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3" r:id="rId7"/>
    <p:sldId id="262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52"/>
    <p:restoredTop sz="94731"/>
  </p:normalViewPr>
  <p:slideViewPr>
    <p:cSldViewPr snapToGrid="0" snapToObjects="1">
      <p:cViewPr varScale="1">
        <p:scale>
          <a:sx n="149" d="100"/>
          <a:sy n="149" d="100"/>
        </p:scale>
        <p:origin x="192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E5B8F1-096F-E473-70B4-9997F89BF94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094288" y="63500"/>
            <a:ext cx="2032000" cy="1676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1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 - FOR PUBLIC RELEASE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61E4A8-05D0-9066-174A-39877ACEED7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094288" y="6626860"/>
            <a:ext cx="2032000" cy="1676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1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 - FOR PUBLIC RELEASE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1D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W12 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828800"/>
            <a:ext cx="75895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0B0C0C"/>
                </a:solidFill>
                <a:latin typeface="Calibri"/>
              </a:rPr>
              <a:t>Incident Response 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3108960"/>
            <a:ext cx="7589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>
                <a:solidFill>
                  <a:srgbClr val="505A5F"/>
                </a:solidFill>
                <a:latin typeface="Calibri"/>
              </a:rPr>
              <a:t>An AI-assisted incident lifecycle for DfE digital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4572000"/>
            <a:ext cx="75895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1" dirty="0">
                <a:solidFill>
                  <a:srgbClr val="1D70B8"/>
                </a:solidFill>
                <a:latin typeface="Calibri"/>
              </a:rPr>
              <a:t>Turning panic into </a:t>
            </a:r>
            <a:r>
              <a:rPr lang="en-GB" b="1" i="1" dirty="0">
                <a:solidFill>
                  <a:srgbClr val="1D70B8"/>
                </a:solidFill>
                <a:latin typeface="Calibri"/>
              </a:rPr>
              <a:t>procedure</a:t>
            </a:r>
            <a:r>
              <a:rPr sz="1800" b="1" i="1" dirty="0">
                <a:solidFill>
                  <a:srgbClr val="1D70B8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5852160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David Feetenby  ·  Serena Abbott  ·  and one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n incident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today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hits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our teams…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425225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 dirty="0">
                <a:solidFill>
                  <a:srgbClr val="0B0C0C"/>
                </a:solidFill>
                <a:latin typeface="Calibri"/>
              </a:rPr>
              <a:t>The first 20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685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D70B8"/>
                </a:solidFill>
                <a:latin typeface="Calibri"/>
              </a:rPr>
              <a:t>09:14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10312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B0C0C"/>
                </a:solidFill>
                <a:latin typeface="Calibri"/>
              </a:rPr>
              <a:t>CDT content API starts returning 503s. GHBfS drop-in cross-service calls start failing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685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D70B8"/>
                </a:solidFill>
                <a:latin typeface="Calibri"/>
              </a:rPr>
              <a:t>09:15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60604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0B0C0C"/>
                </a:solidFill>
                <a:latin typeface="Calibri"/>
              </a:rPr>
              <a:t>Someone posts in #</a:t>
            </a:r>
            <a:r>
              <a:rPr sz="1200" b="0" i="0" dirty="0" err="1">
                <a:solidFill>
                  <a:srgbClr val="0B0C0C"/>
                </a:solidFill>
                <a:latin typeface="Calibri"/>
              </a:rPr>
              <a:t>cdt</a:t>
            </a:r>
            <a:r>
              <a:rPr sz="1200" b="0" i="0" dirty="0">
                <a:solidFill>
                  <a:srgbClr val="0B0C0C"/>
                </a:solidFill>
                <a:latin typeface="Calibri"/>
              </a:rPr>
              <a:t>-support. Someone else posts in #</a:t>
            </a:r>
            <a:r>
              <a:rPr sz="1200" b="0" i="0" dirty="0" err="1">
                <a:solidFill>
                  <a:srgbClr val="0B0C0C"/>
                </a:solidFill>
                <a:latin typeface="Calibri"/>
              </a:rPr>
              <a:t>ghbfs</a:t>
            </a:r>
            <a:r>
              <a:rPr sz="1200" b="0" i="0" dirty="0">
                <a:solidFill>
                  <a:srgbClr val="0B0C0C"/>
                </a:solidFill>
                <a:latin typeface="Calibri"/>
              </a:rPr>
              <a:t>-team. A third person DMs Alex directly.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685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D70B8"/>
                </a:solidFill>
                <a:latin typeface="Calibri"/>
              </a:rPr>
              <a:t>09:17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10896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B0C0C"/>
                </a:solidFill>
                <a:latin typeface="Calibri"/>
              </a:rPr>
              <a:t>Two people quietly try 'restart the pod'. Nobody says out loud that they're doing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685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D70B8"/>
                </a:solidFill>
                <a:latin typeface="Calibri"/>
              </a:rPr>
              <a:t>09:22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1188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B0C0C"/>
                </a:solidFill>
                <a:latin typeface="Calibri"/>
              </a:rPr>
              <a:t>Delivery manager asks in Teams: "Is this a P1 or P2? Who's the tech lead? Are we telling schools?"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685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D70B8"/>
                </a:solidFill>
                <a:latin typeface="Calibri"/>
              </a:rPr>
              <a:t>09:28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1480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0B0C0C"/>
                </a:solidFill>
                <a:latin typeface="Calibri"/>
              </a:rPr>
              <a:t>No answer. Three chats, no timeline, no named leads. Users are starting to email.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85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D70B8"/>
                </a:solidFill>
                <a:latin typeface="Calibri"/>
              </a:rPr>
              <a:t>10:02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617720"/>
            <a:ext cx="5669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0B0C0C"/>
                </a:solidFill>
                <a:latin typeface="Calibri"/>
              </a:rPr>
              <a:t>Someone finally finds the fix. The incident closes. The retro is scheduled for "next week" — and never happens.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60020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D4351C"/>
                </a:solidFill>
                <a:latin typeface="Calibri"/>
              </a:rPr>
              <a:t>What's missing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103120"/>
            <a:ext cx="457200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Agreed severity — so comms cadence is guesswork.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Named tech / comms / support lead — instead everyone's investigating.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One timeline being kept — so the retro has no facts to work from.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One shared page — status lives across four chat threads.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A defined escalation path — instead it depends on who's online.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B0C0C"/>
                </a:solidFill>
                <a:latin typeface="Calibri"/>
              </a:rPr>
              <a:t>• A runbook to follow — instead of ad-hoc pod restarts.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43600"/>
            <a:ext cx="11338560" cy="54864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The tool gives the incident a shape from minute one: named leads, an agreed severity, a runbook to follow, a timeline being kept, and every step landing in one Teams thread.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The on-caller's journey through the tool</a:t>
            </a:r>
          </a:p>
        </p:txBody>
      </p:sp>
      <p:sp>
        <p:nvSpPr>
          <p:cNvPr id="3" name="Oval 2"/>
          <p:cNvSpPr/>
          <p:nvPr/>
        </p:nvSpPr>
        <p:spPr>
          <a:xfrm>
            <a:off x="365760" y="1371600"/>
            <a:ext cx="502920" cy="502920"/>
          </a:xfrm>
          <a:prstGeom prst="ellipse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310895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Report the incident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31089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GOV.UK-styled form: title, service, free-text description. PromptSanitizer strips secrets before anything leaves the app.</a:t>
            </a:r>
          </a:p>
        </p:txBody>
      </p:sp>
      <p:sp>
        <p:nvSpPr>
          <p:cNvPr id="6" name="Oval 5"/>
          <p:cNvSpPr/>
          <p:nvPr/>
        </p:nvSpPr>
        <p:spPr>
          <a:xfrm>
            <a:off x="4206240" y="1371600"/>
            <a:ext cx="502920" cy="502920"/>
          </a:xfrm>
          <a:prstGeom prst="ellipse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71600"/>
            <a:ext cx="310895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Get the process artefact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737360"/>
            <a:ext cx="31089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Immediate Claude call → severity, immediate actions, comms actions, escalation path. Rendered as a GOV.UK task list.</a:t>
            </a:r>
          </a:p>
        </p:txBody>
      </p:sp>
      <p:sp>
        <p:nvSpPr>
          <p:cNvPr id="9" name="Oval 8"/>
          <p:cNvSpPr/>
          <p:nvPr/>
        </p:nvSpPr>
        <p:spPr>
          <a:xfrm>
            <a:off x="8046720" y="1371600"/>
            <a:ext cx="502920" cy="502920"/>
          </a:xfrm>
          <a:prstGeom prst="ellipse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371600"/>
            <a:ext cx="310895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Find the runbook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737360"/>
            <a:ext cx="31089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Cached corpus search → retrieved (green), drafted (yellow) or refused (red). Every branch cites its source or explains itself.</a:t>
            </a:r>
          </a:p>
        </p:txBody>
      </p:sp>
      <p:sp>
        <p:nvSpPr>
          <p:cNvPr id="12" name="Oval 11"/>
          <p:cNvSpPr/>
          <p:nvPr/>
        </p:nvSpPr>
        <p:spPr>
          <a:xfrm>
            <a:off x="365760" y="3108960"/>
            <a:ext cx="502920" cy="502920"/>
          </a:xfrm>
          <a:prstGeom prst="ellipse">
            <a:avLst/>
          </a:prstGeom>
          <a:solidFill>
            <a:srgbClr val="505A5F"/>
          </a:solidFill>
          <a:ln>
            <a:solidFill>
              <a:srgbClr val="50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08960"/>
            <a:ext cx="310895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Fix the incident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474720"/>
            <a:ext cx="31089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The tool does not act. It gives the on-caller structure. The human keeps the keys, the terminal and the judgment call.</a:t>
            </a:r>
          </a:p>
        </p:txBody>
      </p:sp>
      <p:sp>
        <p:nvSpPr>
          <p:cNvPr id="15" name="Oval 14"/>
          <p:cNvSpPr/>
          <p:nvPr/>
        </p:nvSpPr>
        <p:spPr>
          <a:xfrm>
            <a:off x="4206240" y="3108960"/>
            <a:ext cx="502920" cy="502920"/>
          </a:xfrm>
          <a:prstGeom prst="ellipse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08960"/>
            <a:ext cx="310895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Mark resolved + fill the short 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474720"/>
            <a:ext cx="31089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Leads, timeline notes, resolution notes. That's it. Claude does the boring header + timeline in the DfE template shape.</a:t>
            </a:r>
          </a:p>
        </p:txBody>
      </p:sp>
      <p:sp>
        <p:nvSpPr>
          <p:cNvPr id="18" name="Oval 17"/>
          <p:cNvSpPr/>
          <p:nvPr/>
        </p:nvSpPr>
        <p:spPr>
          <a:xfrm>
            <a:off x="8046720" y="3108960"/>
            <a:ext cx="502920" cy="502920"/>
          </a:xfrm>
          <a:prstGeom prst="ellipse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108960"/>
            <a:ext cx="310895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Retro from a real starting point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474720"/>
            <a:ext cx="31089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The reflective questions (root cause, what went well, prevention) stay blank on purpose — those are the meeting's job, not AI's.</a:t>
            </a:r>
          </a:p>
        </p:txBody>
      </p:sp>
      <p:sp>
        <p:nvSpPr>
          <p:cNvPr id="21" name="Oval 20"/>
          <p:cNvSpPr/>
          <p:nvPr/>
        </p:nvSpPr>
        <p:spPr>
          <a:xfrm>
            <a:off x="365760" y="4846320"/>
            <a:ext cx="502920" cy="502920"/>
          </a:xfrm>
          <a:prstGeom prst="ellipse">
            <a:avLst/>
          </a:prstGeom>
          <a:solidFill>
            <a:srgbClr val="00703C"/>
          </a:solidFill>
          <a:ln>
            <a:solidFill>
              <a:srgbClr val="007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8463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B0C0C"/>
                </a:solidFill>
                <a:latin typeface="Calibri"/>
              </a:rPr>
              <a:t>Every step also lands in the Teams incident thread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21208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Adaptive Cards posted automatically — no copy-paste. When corp policy blocks Power Automate, falls back cleanly to skip.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846320"/>
            <a:ext cx="502920" cy="502920"/>
          </a:xfrm>
          <a:prstGeom prst="ellipse">
            <a:avLst/>
          </a:prstGeom>
          <a:solidFill>
            <a:srgbClr val="00703C"/>
          </a:solidFill>
          <a:ln>
            <a:solidFill>
              <a:srgbClr val="007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846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0B0C0C"/>
                </a:solidFill>
                <a:latin typeface="Calibri"/>
              </a:rPr>
              <a:t>Every call is measured and evaluated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212080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05A5F"/>
                </a:solidFill>
                <a:latin typeface="Calibri"/>
              </a:rPr>
              <a:t>Token + cache-hit-rate telemetry per artefact. spec/evals harness runs 10 scenarios against real Claude to score behaviour.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1">
                <a:solidFill>
                  <a:srgbClr val="1D70B8"/>
                </a:solidFill>
                <a:latin typeface="Calibri"/>
              </a:rPr>
              <a:t>Guiding principle: the tool helps.  It does not decide, and it does not run commands.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26555-19AF-829F-A49A-2E26D8A8E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1DFAE6E-CC62-531B-F393-861F3D1A1795}"/>
              </a:ext>
            </a:extLst>
          </p:cNvPr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See it in action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309A4E-55FD-E357-33F8-2C96A12EA267}"/>
              </a:ext>
            </a:extLst>
          </p:cNvPr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05A5F"/>
                </a:solidFill>
                <a:latin typeface="Calibri"/>
              </a:rPr>
              <a:t>Paste live screenshots into the boxes below before presenting.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8ADAB8-8F1B-3885-DA15-0E716951D631}"/>
              </a:ext>
            </a:extLst>
          </p:cNvPr>
          <p:cNvSpPr txBox="1"/>
          <p:nvPr/>
        </p:nvSpPr>
        <p:spPr>
          <a:xfrm>
            <a:off x="2721836" y="58293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dirty="0">
                <a:solidFill>
                  <a:srgbClr val="0B0C0C"/>
                </a:solidFill>
                <a:latin typeface="Calibri"/>
              </a:rPr>
              <a:t>Incident intake form (GOV.UK styling, redaction hint)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ACA201-7E08-C250-998A-98D1F08C19FF}"/>
              </a:ext>
            </a:extLst>
          </p:cNvPr>
          <p:cNvSpPr txBox="1"/>
          <p:nvPr/>
        </p:nvSpPr>
        <p:spPr>
          <a:xfrm>
            <a:off x="457200" y="68580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Runbook artefact — retrieved with citation, or drafted from scratch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AE6B20-40EE-50FB-DDFD-53C9189C4FA1}"/>
              </a:ext>
            </a:extLst>
          </p:cNvPr>
          <p:cNvSpPr txBox="1"/>
          <p:nvPr/>
        </p:nvSpPr>
        <p:spPr>
          <a:xfrm>
            <a:off x="6217920" y="68580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Post-incident review (or Teams Adaptive Card in webhook.site)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F6E6D5-141F-4226-6A7C-7470349209EF}"/>
              </a:ext>
            </a:extLst>
          </p:cNvPr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E46CD4-E338-0DB2-6020-8870EE5CFBF4}"/>
              </a:ext>
            </a:extLst>
          </p:cNvPr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4 / 6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647CC0F-E4A4-442F-98F0-AE66C2A82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5746" y="1400487"/>
            <a:ext cx="7232828" cy="419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04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See it in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05A5F"/>
                </a:solidFill>
                <a:latin typeface="Calibri"/>
              </a:rPr>
              <a:t>Paste live screenshots into the boxes below before presenting.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63323" y="58293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dirty="0">
                <a:solidFill>
                  <a:srgbClr val="0B0C0C"/>
                </a:solidFill>
                <a:latin typeface="Calibri"/>
              </a:rPr>
              <a:t>Show page — process artefact (severity + task list)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8580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Runbook artefact — retrieved with citation, or drafted from scratch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68580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Post-incident review (or Teams Adaptive Card in webhook.site)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4 / 6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30C8C34-5BFA-DC6C-2783-958CC535B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643" y="1503779"/>
            <a:ext cx="6610861" cy="36675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49C68-D049-7F0F-E222-6EBAEF93E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D46B757A-536C-2956-2A81-F0ACDA47C080}"/>
              </a:ext>
            </a:extLst>
          </p:cNvPr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See it in action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65CC0-5FF1-7EAF-D906-8E7104C46C39}"/>
              </a:ext>
            </a:extLst>
          </p:cNvPr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05A5F"/>
                </a:solidFill>
                <a:latin typeface="Calibri"/>
              </a:rPr>
              <a:t>Paste live screenshots into the boxes below before presenting.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2488A8-8A44-09C3-9C73-71A5407D2D52}"/>
              </a:ext>
            </a:extLst>
          </p:cNvPr>
          <p:cNvSpPr txBox="1"/>
          <p:nvPr/>
        </p:nvSpPr>
        <p:spPr>
          <a:xfrm>
            <a:off x="2909843" y="5669280"/>
            <a:ext cx="53949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dirty="0">
                <a:solidFill>
                  <a:srgbClr val="0B0C0C"/>
                </a:solidFill>
                <a:latin typeface="Calibri"/>
              </a:rPr>
              <a:t>Incident </a:t>
            </a:r>
            <a:r>
              <a:rPr lang="en-GB" sz="1200" b="1" i="0" dirty="0">
                <a:solidFill>
                  <a:srgbClr val="0B0C0C"/>
                </a:solidFill>
                <a:latin typeface="Calibri"/>
              </a:rPr>
              <a:t>resolved</a:t>
            </a:r>
            <a:r>
              <a:rPr sz="1200" b="1" i="0" dirty="0">
                <a:solidFill>
                  <a:srgbClr val="0B0C0C"/>
                </a:solidFill>
                <a:latin typeface="Calibri"/>
              </a:rPr>
              <a:t> form (GOV.UK styling)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9FE99A-D242-D760-1A36-EA4BC5B0E2D2}"/>
              </a:ext>
            </a:extLst>
          </p:cNvPr>
          <p:cNvSpPr txBox="1"/>
          <p:nvPr/>
        </p:nvSpPr>
        <p:spPr>
          <a:xfrm>
            <a:off x="457200" y="68580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Runbook artefact — retrieved with citation, or drafted from scratch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472E7-CB2B-D3AF-57C7-0D9A0173AD9F}"/>
              </a:ext>
            </a:extLst>
          </p:cNvPr>
          <p:cNvSpPr txBox="1"/>
          <p:nvPr/>
        </p:nvSpPr>
        <p:spPr>
          <a:xfrm>
            <a:off x="6217920" y="68580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Post-incident review (or Teams Adaptive Card in webhook.site)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81890A-B203-AE0E-C54D-881C1DB1A74B}"/>
              </a:ext>
            </a:extLst>
          </p:cNvPr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96AE92-D818-2D56-F0B9-61B7D8C9FB94}"/>
              </a:ext>
            </a:extLst>
          </p:cNvPr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4 / 6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CAE8171-ECB4-452D-5839-D588B9EB7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704" y="1470448"/>
            <a:ext cx="7208112" cy="3917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823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1FC36-2779-EBC9-C6A6-522E695AB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5D5EE93-C119-CBC0-0125-448E90987437}"/>
              </a:ext>
            </a:extLst>
          </p:cNvPr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See it in action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F798E-DF28-566C-9EF2-24F71EC5FC97}"/>
              </a:ext>
            </a:extLst>
          </p:cNvPr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05A5F"/>
                </a:solidFill>
                <a:latin typeface="Calibri"/>
              </a:rPr>
              <a:t>Paste live screenshots into the boxes below before presenting.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06DA6F-C2C1-45F5-C776-8E4C6A74BB10}"/>
              </a:ext>
            </a:extLst>
          </p:cNvPr>
          <p:cNvSpPr txBox="1"/>
          <p:nvPr/>
        </p:nvSpPr>
        <p:spPr>
          <a:xfrm>
            <a:off x="3246120" y="5715000"/>
            <a:ext cx="53949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dirty="0" err="1">
                <a:solidFill>
                  <a:srgbClr val="0B0C0C"/>
                </a:solidFill>
                <a:latin typeface="Calibri"/>
              </a:rPr>
              <a:t>Inciden</a:t>
            </a:r>
            <a:r>
              <a:rPr lang="en-GB" sz="1200" b="1" dirty="0" err="1">
                <a:solidFill>
                  <a:srgbClr val="0B0C0C"/>
                </a:solidFill>
                <a:latin typeface="Calibri"/>
              </a:rPr>
              <a:t>ts</a:t>
            </a:r>
            <a:r>
              <a:rPr lang="en-GB" sz="1200" b="1" dirty="0">
                <a:solidFill>
                  <a:srgbClr val="0B0C0C"/>
                </a:solidFill>
                <a:latin typeface="Calibri"/>
              </a:rPr>
              <a:t> list with filtering</a:t>
            </a:r>
            <a:endParaRPr sz="1200" b="1" i="0" dirty="0">
              <a:solidFill>
                <a:srgbClr val="0B0C0C"/>
              </a:solidFill>
              <a:latin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6C3D2E-334E-90DA-E11B-190CD9E36D9D}"/>
              </a:ext>
            </a:extLst>
          </p:cNvPr>
          <p:cNvSpPr txBox="1"/>
          <p:nvPr/>
        </p:nvSpPr>
        <p:spPr>
          <a:xfrm>
            <a:off x="457200" y="68580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Runbook artefact — retrieved with citation, or drafted from scratch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B73E79-579A-79B6-A569-F0BD9905DE52}"/>
              </a:ext>
            </a:extLst>
          </p:cNvPr>
          <p:cNvSpPr txBox="1"/>
          <p:nvPr/>
        </p:nvSpPr>
        <p:spPr>
          <a:xfrm>
            <a:off x="6217920" y="68580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B0C0C"/>
                </a:solidFill>
                <a:latin typeface="Calibri"/>
              </a:rPr>
              <a:t>Post-incident review (or Teams Adaptive Card in webhook.site)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434355-1DB3-874B-4363-D1A74A291379}"/>
              </a:ext>
            </a:extLst>
          </p:cNvPr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1D6AB9-A777-8C8B-2BEB-B470942A7F9A}"/>
              </a:ext>
            </a:extLst>
          </p:cNvPr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4 / 6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FD37F6-8D4F-27DB-8778-BAEA9C4D4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924" y="1374962"/>
            <a:ext cx="7931352" cy="410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913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shipped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B0C0C"/>
                </a:solidFill>
                <a:latin typeface="Calibri"/>
              </a:rPr>
              <a:t>Sprint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94360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1 — Incident intake form (GDS formbuilder)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2 — Process artefact (severity + actions)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3 — Runbook artefact (retrieved/drafted/refused)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4 — Post-incident review (fill-in-the-blanks template)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5 — Teams integration (Adaptive Cards)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6 — Incidents dashboard + filters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Step 7 — Guardrails, cost panel, eval harness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0C0C"/>
                </a:solidFill>
                <a:latin typeface="Calibri"/>
              </a:rPr>
              <a:t>• Stretch S3 — ISO 42001 compliance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B0C0C"/>
                </a:solidFill>
                <a:latin typeface="Calibri"/>
              </a:rPr>
              <a:t>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92024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1D70B8"/>
                </a:solidFill>
                <a:latin typeface="Calibri"/>
              </a:rPr>
              <a:t>10/10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6974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eval scenarios passed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192024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00703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26974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hallucinated runbook_ids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20040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1D70B8"/>
                </a:solidFill>
                <a:latin typeface="Calibri"/>
              </a:rPr>
              <a:t>~95%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9776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cache-hit rate on runbooks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20040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1D70B8"/>
                </a:solidFill>
                <a:latin typeface="Calibri"/>
              </a:rPr>
              <a:t>~$0.06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397764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cost per full incident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4805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505A5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2578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artefacts per incident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48056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D4351C"/>
                </a:solidFill>
                <a:latin typeface="Calibr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525780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05A5F"/>
                </a:solidFill>
                <a:latin typeface="Calibri"/>
              </a:rPr>
              <a:t>vector DBs deployed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5 / 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365760"/>
            <a:ext cx="11247120" cy="640080"/>
          </a:xfrm>
          <a:prstGeom prst="roundRect">
            <a:avLst/>
          </a:prstGeom>
          <a:solidFill>
            <a:srgbClr val="1D70B8"/>
          </a:solidFill>
          <a:ln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we'd do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280160"/>
            <a:ext cx="5577840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D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5577840" cy="640080"/>
          </a:xfrm>
          <a:prstGeom prst="rect">
            <a:avLst/>
          </a:prstGeom>
          <a:solidFill>
            <a:srgbClr val="1D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5212080" cy="30931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dirty="0">
                <a:solidFill>
                  <a:srgbClr val="0B0C0C"/>
                </a:solidFill>
                <a:latin typeface="Calibri"/>
              </a:rPr>
              <a:t>• </a:t>
            </a:r>
            <a:r>
              <a:rPr lang="en-GB" dirty="0">
                <a:solidFill>
                  <a:srgbClr val="0B0C0C"/>
                </a:solidFill>
                <a:latin typeface="Calibri"/>
              </a:rPr>
              <a:t>Teams integration to post a thread to an incident channel</a:t>
            </a:r>
            <a:endParaRPr dirty="0">
              <a:solidFill>
                <a:srgbClr val="0B0C0C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dirty="0">
                <a:solidFill>
                  <a:srgbClr val="0B0C0C"/>
                </a:solidFill>
                <a:latin typeface="Calibri"/>
              </a:rPr>
              <a:t>• MCP server — expose the same three tools to Claude Desktop so the copilot lives where on-callers already are.</a:t>
            </a:r>
          </a:p>
          <a:p>
            <a:pPr>
              <a:spcAft>
                <a:spcPts val="600"/>
              </a:spcAft>
            </a:pPr>
            <a:r>
              <a:rPr dirty="0">
                <a:solidFill>
                  <a:srgbClr val="0B0C0C"/>
                </a:solidFill>
                <a:latin typeface="Calibri"/>
              </a:rPr>
              <a:t>• Integrate with monitoring tools (e.g. Rollbar, Sentry, Splunk) so incidents can be opened automatically from an alert.</a:t>
            </a:r>
          </a:p>
          <a:p>
            <a:pPr>
              <a:spcAft>
                <a:spcPts val="600"/>
              </a:spcAft>
            </a:pPr>
            <a:r>
              <a:rPr dirty="0">
                <a:solidFill>
                  <a:srgbClr val="0B0C0C"/>
                </a:solidFill>
                <a:latin typeface="Calibri"/>
              </a:rPr>
              <a:t>• Human-editable artefacts — right now Claude drafts and you re-run; ideally you can tweak inline.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280160"/>
            <a:ext cx="5577840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7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263640" y="1280160"/>
            <a:ext cx="5577840" cy="64008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Trust and 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148840"/>
            <a:ext cx="5212080" cy="343170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600"/>
              </a:spcAft>
            </a:pPr>
            <a:r>
              <a:rPr sz="1600" dirty="0">
                <a:solidFill>
                  <a:srgbClr val="0B0C0C"/>
                </a:solidFill>
                <a:latin typeface="Calibri"/>
              </a:rPr>
              <a:t>• Grow the eval corpus (spec/evals) beyond 10 scenarios; add an adversarial prompt bucket.</a:t>
            </a:r>
          </a:p>
          <a:p>
            <a:pPr>
              <a:spcAft>
                <a:spcPts val="600"/>
              </a:spcAft>
            </a:pPr>
            <a:r>
              <a:rPr sz="1600" dirty="0">
                <a:solidFill>
                  <a:srgbClr val="0B0C0C"/>
                </a:solidFill>
                <a:latin typeface="Calibri"/>
              </a:rPr>
              <a:t>• Continuous eval on production inputs — drift detection for prompts + Claude </a:t>
            </a:r>
            <a:r>
              <a:rPr sz="1600" dirty="0" err="1">
                <a:solidFill>
                  <a:srgbClr val="0B0C0C"/>
                </a:solidFill>
                <a:latin typeface="Calibri"/>
              </a:rPr>
              <a:t>behaviour</a:t>
            </a:r>
            <a:r>
              <a:rPr sz="1600" dirty="0">
                <a:solidFill>
                  <a:srgbClr val="0B0C0C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600" dirty="0">
                <a:solidFill>
                  <a:srgbClr val="0B0C0C"/>
                </a:solidFill>
                <a:latin typeface="Calibri"/>
              </a:rPr>
              <a:t>• Aggregate cost / cache-hit dashboard (per-service, per-day) — schema is already there.</a:t>
            </a:r>
          </a:p>
          <a:p>
            <a:pPr>
              <a:spcAft>
                <a:spcPts val="600"/>
              </a:spcAft>
            </a:pPr>
            <a:r>
              <a:rPr sz="1600" dirty="0">
                <a:solidFill>
                  <a:srgbClr val="0B0C0C"/>
                </a:solidFill>
                <a:latin typeface="Calibri"/>
              </a:rPr>
              <a:t>• Migrate corpus to RAG once it grows past ~200 000 tokens (currently ~5 000, plenty of headroom).</a:t>
            </a:r>
          </a:p>
          <a:p>
            <a:pPr>
              <a:spcAft>
                <a:spcPts val="600"/>
              </a:spcAft>
            </a:pPr>
            <a:r>
              <a:rPr sz="1600" dirty="0">
                <a:solidFill>
                  <a:srgbClr val="0B0C0C"/>
                </a:solidFill>
                <a:latin typeface="Calibri"/>
              </a:rPr>
              <a:t>• Formal impact assessment + standalone AI-usage policy to close the remaining ISO 42001 gaps.</a:t>
            </a:r>
          </a:p>
          <a:p>
            <a:pPr>
              <a:spcAft>
                <a:spcPts val="600"/>
              </a:spcAft>
            </a:pPr>
            <a:r>
              <a:rPr sz="1600" dirty="0">
                <a:solidFill>
                  <a:srgbClr val="0B0C0C"/>
                </a:solidFill>
                <a:latin typeface="Calibri"/>
              </a:rPr>
              <a:t>• Bias testing on outputs — the corpus is uniform in voice; needs diverse-authorship sampling.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05A5F"/>
                </a:solidFill>
                <a:latin typeface="Calibri"/>
              </a:rPr>
              <a:t>Incident Response Tool  ·  DfE  ·  W12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20095" y="649224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05A5F"/>
                </a:solidFill>
                <a:latin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bf2ff9d-e249-40e2-b463-0b922d4f2f25}" enabled="1" method="Privileged" siteId="{fad277c9-c60a-4da1-b5f3-b3b8b34a82f9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1127</Words>
  <Application>Microsoft Macintosh PowerPoint</Application>
  <PresentationFormat>Widescreen</PresentationFormat>
  <Paragraphs>126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ABBOTT, Serena</cp:lastModifiedBy>
  <cp:revision>3</cp:revision>
  <dcterms:created xsi:type="dcterms:W3CDTF">2013-01-27T09:14:16Z</dcterms:created>
  <dcterms:modified xsi:type="dcterms:W3CDTF">2026-08-06T14:05:35Z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Theme:10</vt:lpwstr>
  </property>
  <property fmtid="{D5CDD505-2E9C-101B-9397-08002B2CF9AE}" pid="3" name="ClassificationContentMarkingFooterText">
    <vt:lpwstr>OFFICIAL - FOR PUBLIC RELEASE</vt:lpwstr>
  </property>
  <property fmtid="{D5CDD505-2E9C-101B-9397-08002B2CF9AE}" pid="4" name="ClassificationContentMarkingHeaderLocations">
    <vt:lpwstr>Office Theme:9</vt:lpwstr>
  </property>
  <property fmtid="{D5CDD505-2E9C-101B-9397-08002B2CF9AE}" pid="5" name="ClassificationContentMarkingHeaderText">
    <vt:lpwstr>OFFICIAL - FOR PUBLIC RELEASE</vt:lpwstr>
  </property>
</Properties>
</file>