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791196-A2BC-453F-8803-8025FB8F50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535E1D-1A61-43A3-ACD6-D5275C96E1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58A78E-F19A-4E21-8301-114F2E1060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B3E36D-2662-4CDB-A303-7A7B9960B7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16AC80-5878-4AD3-A074-757E572E5B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FD66E8-0835-4FDF-8B6A-28FA10982F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D438EE-6B70-4175-A7C3-806D17C382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9B1DA6-496E-41AA-80E4-FE8DBF9DB3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92E04F-5E1E-4913-AF19-F91E516BEC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6DC0D5-3B9D-4402-B05C-11FF30BDC5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50A5D2-2807-4F03-A7BB-66E16BCE88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3657240" cy="6857640"/>
          </a:xfrm>
          <a:prstGeom prst="rect">
            <a:avLst/>
          </a:prstGeom>
          <a:solidFill>
            <a:srgbClr val="1D70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548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DfE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57200" y="9144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W12 hackathon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114800" y="1828800"/>
            <a:ext cx="75891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Incident Response Tool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114800" y="3108960"/>
            <a:ext cx="7589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An AI-assisted incident lifecycle for DfE digital services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4114800" y="4572000"/>
            <a:ext cx="7589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1D70B8"/>
                </a:solidFill>
                <a:effectLst/>
                <a:uFillTx/>
                <a:latin typeface="Calibri"/>
              </a:rPr>
              <a:t>Turning panic into a shape.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4114800" y="5852160"/>
            <a:ext cx="7589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David Feetenby  ·  Serena Abbott  ·  and one Claude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1"/>
          <p:cNvSpPr/>
          <p:nvPr/>
        </p:nvSpPr>
        <p:spPr>
          <a:xfrm>
            <a:off x="457200" y="365760"/>
            <a:ext cx="11246760" cy="639720"/>
          </a:xfrm>
          <a:prstGeom prst="roundRect">
            <a:avLst>
              <a:gd name="adj" fmla="val 16667"/>
            </a:avLst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When incident management is thin, friction takes over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640080" y="12801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The pattern we see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640080" y="1828800"/>
            <a:ext cx="5486040" cy="20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"Where's the runbook for this?" — 30 minutes of Slack archaeology before anyone starts fixing anything.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Severity gets guessed, comms lag, escalation depends on who happens to be online.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The retro gets skipped when the fire's out — so the same incident repeats six months later, with a new on-caller.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Every incident report gets built from scratch in a different place. None of them get read.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583680" y="128016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D4351C"/>
                </a:solidFill>
                <a:effectLst/>
                <a:uFillTx/>
                <a:latin typeface="Calibri"/>
              </a:rPr>
              <a:t>The effect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583680" y="182880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D4351C"/>
                </a:solidFill>
                <a:effectLst/>
                <a:uFillTx/>
                <a:latin typeface="Calibri"/>
              </a:rPr>
              <a:t>Panic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6583680" y="242316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Worse decisions under time pressure with no shared shape to lean on.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6583680" y="310896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D4351C"/>
                </a:solidFill>
                <a:effectLst/>
                <a:uFillTx/>
                <a:latin typeface="Calibri"/>
              </a:rPr>
              <a:t>Friction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583680" y="37033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Comms tax and copy-paste tax on every single incident.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583680" y="438912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D4351C"/>
                </a:solidFill>
                <a:effectLst/>
                <a:uFillTx/>
                <a:latin typeface="Calibri"/>
              </a:rPr>
              <a:t>Repeat incidents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6583680" y="49834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Same problem, six months later, different person, no lesson learned.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1"/>
          <p:cNvSpPr/>
          <p:nvPr/>
        </p:nvSpPr>
        <p:spPr>
          <a:xfrm>
            <a:off x="640080" y="5760720"/>
            <a:ext cx="10972440" cy="639720"/>
          </a:xfrm>
          <a:prstGeom prst="roundRect">
            <a:avLst>
              <a:gd name="adj" fmla="val 16667"/>
            </a:avLst>
          </a:prstGeom>
          <a:solidFill>
            <a:srgbClr val="0B0C0C"/>
          </a:solidFill>
          <a:ln>
            <a:solidFill>
              <a:srgbClr val="0B0C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This is a coordination problem — one AI can genuinely help with, without replacing the humans doing the fixing.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Incident Response Tool  ·  DfE  ·  W12 hackathon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10820160" y="6492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2 / 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ed Rectangle 1"/>
          <p:cNvSpPr/>
          <p:nvPr/>
        </p:nvSpPr>
        <p:spPr>
          <a:xfrm>
            <a:off x="457200" y="365760"/>
            <a:ext cx="11246760" cy="639720"/>
          </a:xfrm>
          <a:prstGeom prst="roundRect">
            <a:avLst>
              <a:gd name="adj" fmla="val 16667"/>
            </a:avLst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on-caller's journey through the tool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2"/>
          <p:cNvSpPr/>
          <p:nvPr/>
        </p:nvSpPr>
        <p:spPr>
          <a:xfrm>
            <a:off x="365760" y="1371600"/>
            <a:ext cx="502560" cy="50256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1005840" y="13716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Report the incident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005840" y="173736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GOV.UK-styled form: title, service, free-text description. PromptSanitizer strips secrets before anything leaves the app.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5"/>
          <p:cNvSpPr/>
          <p:nvPr/>
        </p:nvSpPr>
        <p:spPr>
          <a:xfrm>
            <a:off x="4206240" y="1371600"/>
            <a:ext cx="502560" cy="50256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4846320" y="13716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Get the process artefact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4846320" y="173736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Immediate Claude call → severity, immediate actions, comms actions, escalation path. Rendered as a GOV.UK task list.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8"/>
          <p:cNvSpPr/>
          <p:nvPr/>
        </p:nvSpPr>
        <p:spPr>
          <a:xfrm>
            <a:off x="8046720" y="1371600"/>
            <a:ext cx="502560" cy="50256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8686800" y="13716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Find the runbook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8686800" y="173736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Cached corpus search → retrieved (green), drafted (yellow) or refused (red). Every branch cites its source or explains itself.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val 11"/>
          <p:cNvSpPr/>
          <p:nvPr/>
        </p:nvSpPr>
        <p:spPr>
          <a:xfrm>
            <a:off x="365760" y="3108960"/>
            <a:ext cx="502560" cy="502560"/>
          </a:xfrm>
          <a:prstGeom prst="ellipse">
            <a:avLst/>
          </a:prstGeom>
          <a:solidFill>
            <a:srgbClr val="505A5F"/>
          </a:solidFill>
          <a:ln>
            <a:solidFill>
              <a:srgbClr val="505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1005840" y="31089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Fix the incident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1005840" y="347472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The tool does not act. It gives the on-caller structure. The human keeps the keys, the terminal and the judgment call.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14"/>
          <p:cNvSpPr/>
          <p:nvPr/>
        </p:nvSpPr>
        <p:spPr>
          <a:xfrm>
            <a:off x="4206240" y="3108960"/>
            <a:ext cx="502560" cy="50256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4846320" y="31089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Mark resolved + fill the short form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4846320" y="347472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Leads, timeline notes, resolution notes. That's it. Claude does the boring header + timeline in the DfE template shape.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Oval 17"/>
          <p:cNvSpPr/>
          <p:nvPr/>
        </p:nvSpPr>
        <p:spPr>
          <a:xfrm>
            <a:off x="8046720" y="3108960"/>
            <a:ext cx="502560" cy="50256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8"/>
          <p:cNvSpPr/>
          <p:nvPr/>
        </p:nvSpPr>
        <p:spPr>
          <a:xfrm>
            <a:off x="8686800" y="310896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Retro from a real starting point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9"/>
          <p:cNvSpPr/>
          <p:nvPr/>
        </p:nvSpPr>
        <p:spPr>
          <a:xfrm>
            <a:off x="8686800" y="347472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The reflective questions (root cause, what went well, prevention) stay blank on purpose — those are the meeting's job, not AI's.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Oval 20"/>
          <p:cNvSpPr/>
          <p:nvPr/>
        </p:nvSpPr>
        <p:spPr>
          <a:xfrm>
            <a:off x="365760" y="4846320"/>
            <a:ext cx="502560" cy="502560"/>
          </a:xfrm>
          <a:prstGeom prst="ellipse">
            <a:avLst/>
          </a:prstGeom>
          <a:solidFill>
            <a:srgbClr val="00703C"/>
          </a:solidFill>
          <a:ln>
            <a:solidFill>
              <a:srgbClr val="007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1"/>
          <p:cNvSpPr/>
          <p:nvPr/>
        </p:nvSpPr>
        <p:spPr>
          <a:xfrm>
            <a:off x="1005840" y="48463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Every step also lands in the Teams incident thread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2"/>
          <p:cNvSpPr/>
          <p:nvPr/>
        </p:nvSpPr>
        <p:spPr>
          <a:xfrm>
            <a:off x="1005840" y="521208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Adaptive Cards posted automatically — no copy-paste. When corp policy blocks Power Automate, falls back cleanly to skip.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Oval 23"/>
          <p:cNvSpPr/>
          <p:nvPr/>
        </p:nvSpPr>
        <p:spPr>
          <a:xfrm>
            <a:off x="6217920" y="4846320"/>
            <a:ext cx="502560" cy="502560"/>
          </a:xfrm>
          <a:prstGeom prst="ellipse">
            <a:avLst/>
          </a:prstGeom>
          <a:solidFill>
            <a:srgbClr val="00703C"/>
          </a:solidFill>
          <a:ln>
            <a:solidFill>
              <a:srgbClr val="007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4"/>
          <p:cNvSpPr/>
          <p:nvPr/>
        </p:nvSpPr>
        <p:spPr>
          <a:xfrm>
            <a:off x="6858000" y="48463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Every call is measured and evaluated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5"/>
          <p:cNvSpPr/>
          <p:nvPr/>
        </p:nvSpPr>
        <p:spPr>
          <a:xfrm>
            <a:off x="6858000" y="521208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Token + cache-hit-rate telemetry per artefact. spec/evals harness runs 10 scenarios against real Claude to score behaviour.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6"/>
          <p:cNvSpPr/>
          <p:nvPr/>
        </p:nvSpPr>
        <p:spPr>
          <a:xfrm>
            <a:off x="457200" y="6309360"/>
            <a:ext cx="1124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i="1" u="none" strike="noStrike">
                <a:solidFill>
                  <a:srgbClr val="1D70B8"/>
                </a:solidFill>
                <a:effectLst/>
                <a:uFillTx/>
                <a:latin typeface="Calibri"/>
              </a:rPr>
              <a:t>Guiding principle: the tool helps.  It does not decide, and it does not run commands.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7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Incident Response Tool  ·  DfE  ·  W12 hackathon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8"/>
          <p:cNvSpPr/>
          <p:nvPr/>
        </p:nvSpPr>
        <p:spPr>
          <a:xfrm>
            <a:off x="10820160" y="6492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3 / 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ounded Rectangle 1"/>
          <p:cNvSpPr/>
          <p:nvPr/>
        </p:nvSpPr>
        <p:spPr>
          <a:xfrm>
            <a:off x="457200" y="365760"/>
            <a:ext cx="11246760" cy="639720"/>
          </a:xfrm>
          <a:prstGeom prst="roundRect">
            <a:avLst>
              <a:gd name="adj" fmla="val 16667"/>
            </a:avLst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See it in action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640080" y="11430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Paste live screenshots into the boxes below before presenting.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3"/>
          <p:cNvSpPr/>
          <p:nvPr/>
        </p:nvSpPr>
        <p:spPr>
          <a:xfrm>
            <a:off x="457200" y="1554480"/>
            <a:ext cx="5394600" cy="233136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[  paste screenshot here  ]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457200" y="397764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Incident intake form (GOV.UK styling, redaction hint)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5"/>
          <p:cNvSpPr/>
          <p:nvPr/>
        </p:nvSpPr>
        <p:spPr>
          <a:xfrm>
            <a:off x="6217920" y="1554480"/>
            <a:ext cx="5394600" cy="233136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[  paste screenshot here  ]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6217920" y="397764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Show page — process artefact (severity + task list)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7"/>
          <p:cNvSpPr/>
          <p:nvPr/>
        </p:nvSpPr>
        <p:spPr>
          <a:xfrm>
            <a:off x="457200" y="4434840"/>
            <a:ext cx="5394600" cy="233136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[  paste screenshot here  ]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457200" y="685800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Runbook artefact — retrieved with citation, or drafted from scratch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9"/>
          <p:cNvSpPr/>
          <p:nvPr/>
        </p:nvSpPr>
        <p:spPr>
          <a:xfrm>
            <a:off x="6217920" y="4434840"/>
            <a:ext cx="5394600" cy="233136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[  paste screenshot here  ]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6217920" y="685800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Post-incident review (or Teams Adaptive Card in webhook.site)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Incident Response Tool  ·  DfE  ·  W12 hackathon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10820160" y="6492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4 / 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ounded Rectangle 1"/>
          <p:cNvSpPr/>
          <p:nvPr/>
        </p:nvSpPr>
        <p:spPr>
          <a:xfrm>
            <a:off x="457200" y="365760"/>
            <a:ext cx="11246760" cy="639720"/>
          </a:xfrm>
          <a:prstGeom prst="roundRect">
            <a:avLst>
              <a:gd name="adj" fmla="val 16667"/>
            </a:avLst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shipped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48640" y="1371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Sprint outcome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548640" y="1828800"/>
            <a:ext cx="59432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1 — Incident intake form (GDS formbuilder)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2 — Process artefact (severity + actions)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3 — Runbook artefact (retrieved/drafted/refused)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4 — Post-incident review (fill-in-the-blanks template)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5 — Teams integration (Adaptive Cards)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6 — Incidents dashboard + filters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Step 7 — Guardrails, cost panel, eval harness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Stretch S3 — ISO 42001 compliance mapping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6858000" y="13716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By the numbers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6858000" y="192024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D70B8"/>
                </a:solidFill>
                <a:effectLst/>
                <a:uFillTx/>
                <a:latin typeface="Calibri"/>
              </a:rPr>
              <a:t>10/10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6858000" y="26974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eval scenarios passed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9418320" y="192024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703C"/>
                </a:solidFill>
                <a:effectLst/>
                <a:uFillTx/>
                <a:latin typeface="Calibri"/>
              </a:rPr>
              <a:t>0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9418320" y="26974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hallucinated runbook_ids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6858000" y="320040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D70B8"/>
                </a:solidFill>
                <a:effectLst/>
                <a:uFillTx/>
                <a:latin typeface="Calibri"/>
              </a:rPr>
              <a:t>~95%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858000" y="39776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cache-hit rate on runbooks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9418320" y="320040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D70B8"/>
                </a:solidFill>
                <a:effectLst/>
                <a:uFillTx/>
                <a:latin typeface="Calibri"/>
              </a:rPr>
              <a:t>~$0.06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9418320" y="39776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cost per full incident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6858000" y="44805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3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6858000" y="52578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artefacts per incident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9418320" y="44805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D4351C"/>
                </a:solidFill>
                <a:effectLst/>
                <a:uFillTx/>
                <a:latin typeface="Calibri"/>
              </a:rPr>
              <a:t>0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6"/>
          <p:cNvSpPr/>
          <p:nvPr/>
        </p:nvSpPr>
        <p:spPr>
          <a:xfrm>
            <a:off x="9418320" y="52578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vector DBs deployed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7"/>
          <p:cNvSpPr/>
          <p:nvPr/>
        </p:nvSpPr>
        <p:spPr>
          <a:xfrm>
            <a:off x="457200" y="5852160"/>
            <a:ext cx="11338200" cy="639720"/>
          </a:xfrm>
          <a:prstGeom prst="roundRect">
            <a:avLst>
              <a:gd name="adj" fmla="val 16667"/>
            </a:avLst>
          </a:prstGeom>
          <a:solidFill>
            <a:srgbClr val="F3F2F1"/>
          </a:solidFill>
          <a:ln>
            <a:solidFill>
              <a:srgbClr val="F3F2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Next: live Teams via M365 dev tenant  ·  larger eval set  ·  aggregate cost dashboard  ·  MCP / Slack bolt-ons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8"/>
          <p:cNvSpPr/>
          <p:nvPr/>
        </p:nvSpPr>
        <p:spPr>
          <a:xfrm>
            <a:off x="45720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Incident Response Tool  ·  DfE  ·  W12 hackathon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10820160" y="6492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6 / 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ounded Rectangle 1"/>
          <p:cNvSpPr/>
          <p:nvPr/>
        </p:nvSpPr>
        <p:spPr>
          <a:xfrm>
            <a:off x="457200" y="365760"/>
            <a:ext cx="11246760" cy="639720"/>
          </a:xfrm>
          <a:prstGeom prst="roundRect">
            <a:avLst>
              <a:gd name="adj" fmla="val 16667"/>
            </a:avLst>
          </a:prstGeom>
          <a:solidFill>
            <a:srgbClr val="1D70B8"/>
          </a:solidFill>
          <a:ln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we'd do next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"/>
          <p:cNvSpPr/>
          <p:nvPr/>
        </p:nvSpPr>
        <p:spPr>
          <a:xfrm>
            <a:off x="365760" y="1280160"/>
            <a:ext cx="55774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1D70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365760" y="1280160"/>
            <a:ext cx="5577480" cy="639720"/>
          </a:xfrm>
          <a:prstGeom prst="rect">
            <a:avLst/>
          </a:prstGeom>
          <a:solidFill>
            <a:srgbClr val="1D70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548640" y="1417320"/>
            <a:ext cx="52117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Product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548640" y="2148840"/>
            <a:ext cx="5211720" cy="21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Live Teams demo via an M365 Developer Program tenant (DfE Power Automate is admin-blocked).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MCP server — expose the same three tools to Claude Desktop so the copilot lives where on-callers already are.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More integration mirroring the Teams path for teams who aren't on Teams.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Streaming responses — SSE so artefacts render token-by-token during the demo.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Human-editable artefacts — right now Claude drafts and you re-run; ideally you can tweak inline.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* Integrate with monitoring tools (e.g. rollbar, sentry, splunk)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6"/>
          <p:cNvSpPr/>
          <p:nvPr/>
        </p:nvSpPr>
        <p:spPr>
          <a:xfrm>
            <a:off x="6263640" y="1280160"/>
            <a:ext cx="55774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007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7"/>
          <p:cNvSpPr/>
          <p:nvPr/>
        </p:nvSpPr>
        <p:spPr>
          <a:xfrm>
            <a:off x="6263640" y="1280160"/>
            <a:ext cx="5577480" cy="639720"/>
          </a:xfrm>
          <a:prstGeom prst="rect">
            <a:avLst/>
          </a:prstGeom>
          <a:solidFill>
            <a:srgbClr val="0070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6446520" y="1417320"/>
            <a:ext cx="52117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Trust and scale</a:t>
            </a:r>
            <a:endParaRPr lang="en-GB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9"/>
          <p:cNvSpPr/>
          <p:nvPr/>
        </p:nvSpPr>
        <p:spPr>
          <a:xfrm>
            <a:off x="6446520" y="2148840"/>
            <a:ext cx="521172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Grow the eval corpus (spec/evals) beyond 10 scenarios; add an adversarial prompt.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Continuous eval on production inputs — drift detection for prompts + Claude behaviour.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Aggregate cost / cache-hit dashboard (per-service, per-day) — schema is already there.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Migrate corpus to RAG once it grows past ~200 000 tokens (currently ~5 000, plenty of headroom).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Formal impact assessment + standalone AI-usage policy to close the remaining ISO 42001 gaps.****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B0C0C"/>
                </a:solidFill>
                <a:effectLst/>
                <a:uFillTx/>
                <a:latin typeface="Calibri"/>
              </a:rPr>
              <a:t>• Bias testing on outputs — the corpus is uniform in voice; needs diverse-authorship sampling.***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457200" y="6492240"/>
            <a:ext cx="5486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Incident Response Tool  ·  DfE  ·  W12 hackathon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10820160" y="6492240"/>
            <a:ext cx="9140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05A5F"/>
                </a:solidFill>
                <a:effectLst/>
                <a:uFillTx/>
                <a:latin typeface="Calibri"/>
              </a:rPr>
              <a:t>5 / 6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2026-08-06T13:53:09Z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