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1D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W12 hackathon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828800"/>
            <a:ext cx="7589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 i="0">
                <a:solidFill>
                  <a:srgbClr val="0B0C0C"/>
                </a:solidFill>
                <a:latin typeface="Calibri"/>
              </a:rPr>
              <a:t>Incident Response Tool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3108960"/>
            <a:ext cx="7589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505A5F"/>
                </a:solidFill>
                <a:latin typeface="Calibri"/>
              </a:rPr>
              <a:t>An AI-assisted incident lifecycle for DfE digital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4572000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1">
                <a:solidFill>
                  <a:srgbClr val="1D70B8"/>
                </a:solidFill>
                <a:latin typeface="Calibri"/>
              </a:rPr>
              <a:t>Turning panic into a shape.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852160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05A5F"/>
                </a:solidFill>
                <a:latin typeface="Calibri"/>
              </a:rPr>
              <a:t>David Feetenby  ·  Serena Abbott  ·  and one Claude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11247120" cy="640080"/>
          </a:xfrm>
          <a:prstGeom prst="roundRect">
            <a:avLst/>
          </a:prstGeom>
          <a:solidFill>
            <a:srgbClr val="1D70B8"/>
          </a:solidFill>
          <a:ln>
            <a:solidFill>
              <a:srgbClr val="1D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In our team today: an incident hits CDT and GHBfS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05A5F"/>
                </a:solidFill>
                <a:latin typeface="Calibri"/>
              </a:rPr>
              <a:t>A composite of what actually happens when something breaks on one of our services.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B0C0C"/>
                </a:solidFill>
                <a:latin typeface="Calibri"/>
              </a:rPr>
              <a:t>The first 20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685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D70B8"/>
                </a:solidFill>
                <a:latin typeface="Calibri"/>
              </a:rPr>
              <a:t>09:14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103120"/>
            <a:ext cx="5669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B0C0C"/>
                </a:solidFill>
                <a:latin typeface="Calibri"/>
              </a:rPr>
              <a:t>CDT content API starts returning 503s. GHBfS drop-in cross-service calls start failing too.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85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D70B8"/>
                </a:solidFill>
                <a:latin typeface="Calibri"/>
              </a:rPr>
              <a:t>09:15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606040"/>
            <a:ext cx="5669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B0C0C"/>
                </a:solidFill>
                <a:latin typeface="Calibri"/>
              </a:rPr>
              <a:t>Someone posts in #cdt-support. Someone else posts in #ghbfs-team. A third person DMs Alex directly.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08960"/>
            <a:ext cx="685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D70B8"/>
                </a:solidFill>
                <a:latin typeface="Calibri"/>
              </a:rPr>
              <a:t>09:17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108960"/>
            <a:ext cx="5669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B0C0C"/>
                </a:solidFill>
                <a:latin typeface="Calibri"/>
              </a:rPr>
              <a:t>Two people quietly try 'restart the pod'. Nobody says out loud that they're doing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611880"/>
            <a:ext cx="685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D70B8"/>
                </a:solidFill>
                <a:latin typeface="Calibri"/>
              </a:rPr>
              <a:t>09:22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611880"/>
            <a:ext cx="5669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B0C0C"/>
                </a:solidFill>
                <a:latin typeface="Calibri"/>
              </a:rPr>
              <a:t>Delivery manager asks in Teams: "Is this a P1 or P2? Who's the tech lead? Are we telling schools?"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14800"/>
            <a:ext cx="685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D70B8"/>
                </a:solidFill>
                <a:latin typeface="Calibri"/>
              </a:rPr>
              <a:t>09:28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114800"/>
            <a:ext cx="5669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B0C0C"/>
                </a:solidFill>
                <a:latin typeface="Calibri"/>
              </a:rPr>
              <a:t>No answer. Three chats, no timeline, no named leads. Users are starting to email.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617720"/>
            <a:ext cx="685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D70B8"/>
                </a:solidFill>
                <a:latin typeface="Calibri"/>
              </a:rPr>
              <a:t>10:02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617720"/>
            <a:ext cx="5669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B0C0C"/>
                </a:solidFill>
                <a:latin typeface="Calibri"/>
              </a:rPr>
              <a:t>Someone finally finds the fix. The incident closes. The retro is scheduled for "next week" — and never happens.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16002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D4351C"/>
                </a:solidFill>
                <a:latin typeface="Calibri"/>
              </a:rPr>
              <a:t>What's missing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103120"/>
            <a:ext cx="457200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0B0C0C"/>
                </a:solidFill>
                <a:latin typeface="Calibri"/>
              </a:rPr>
              <a:t>• Agreed severity — so comms cadence is guesswork.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B0C0C"/>
                </a:solidFill>
                <a:latin typeface="Calibri"/>
              </a:rPr>
              <a:t>• Named tech / comms / support lead — instead everyone's investigating.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B0C0C"/>
                </a:solidFill>
                <a:latin typeface="Calibri"/>
              </a:rPr>
              <a:t>• One timeline being kept — so the retro has no facts to work from.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B0C0C"/>
                </a:solidFill>
                <a:latin typeface="Calibri"/>
              </a:rPr>
              <a:t>• One shared page — status lives across four chat threads.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B0C0C"/>
                </a:solidFill>
                <a:latin typeface="Calibri"/>
              </a:rPr>
              <a:t>• A defined escalation path — instead it depends on who's online.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B0C0C"/>
                </a:solidFill>
                <a:latin typeface="Calibri"/>
              </a:rPr>
              <a:t>• A runbook to follow — instead of ad-hoc pod restarts.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943600"/>
            <a:ext cx="11338560" cy="548640"/>
          </a:xfrm>
          <a:prstGeom prst="roundRect">
            <a:avLst/>
          </a:prstGeom>
          <a:solidFill>
            <a:srgbClr val="1D70B8"/>
          </a:solidFill>
          <a:ln>
            <a:solidFill>
              <a:srgbClr val="1D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The tool gives the incident a shape from minute one: named leads, an agreed severity, a runbook to follow, a timeline being kept, and every step landing in one Teams thread.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05A5F"/>
                </a:solidFill>
                <a:latin typeface="Calibri"/>
              </a:rPr>
              <a:t>Incident Response Tool  ·  DfE  ·  W12 hackathon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05A5F"/>
                </a:solidFill>
                <a:latin typeface="Calibri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11247120" cy="640080"/>
          </a:xfrm>
          <a:prstGeom prst="roundRect">
            <a:avLst/>
          </a:prstGeom>
          <a:solidFill>
            <a:srgbClr val="1D70B8"/>
          </a:solidFill>
          <a:ln>
            <a:solidFill>
              <a:srgbClr val="1D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The on-caller's journey through the tool</a:t>
            </a:r>
          </a:p>
        </p:txBody>
      </p:sp>
      <p:sp>
        <p:nvSpPr>
          <p:cNvPr id="3" name="Oval 2"/>
          <p:cNvSpPr/>
          <p:nvPr/>
        </p:nvSpPr>
        <p:spPr>
          <a:xfrm>
            <a:off x="365760" y="1371600"/>
            <a:ext cx="502920" cy="502920"/>
          </a:xfrm>
          <a:prstGeom prst="ellipse">
            <a:avLst/>
          </a:prstGeom>
          <a:solidFill>
            <a:srgbClr val="1D70B8"/>
          </a:solidFill>
          <a:ln>
            <a:solidFill>
              <a:srgbClr val="1D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3108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0C0C"/>
                </a:solidFill>
                <a:latin typeface="Calibri"/>
              </a:rPr>
              <a:t>Report the incident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310895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05A5F"/>
                </a:solidFill>
                <a:latin typeface="Calibri"/>
              </a:rPr>
              <a:t>GOV.UK-styled form: title, service, free-text description. PromptSanitizer strips secrets before anything leaves the app.</a:t>
            </a:r>
          </a:p>
        </p:txBody>
      </p:sp>
      <p:sp>
        <p:nvSpPr>
          <p:cNvPr id="6" name="Oval 5"/>
          <p:cNvSpPr/>
          <p:nvPr/>
        </p:nvSpPr>
        <p:spPr>
          <a:xfrm>
            <a:off x="4206240" y="1371600"/>
            <a:ext cx="502920" cy="502920"/>
          </a:xfrm>
          <a:prstGeom prst="ellipse">
            <a:avLst/>
          </a:prstGeom>
          <a:solidFill>
            <a:srgbClr val="1D70B8"/>
          </a:solidFill>
          <a:ln>
            <a:solidFill>
              <a:srgbClr val="1D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371600"/>
            <a:ext cx="3108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0C0C"/>
                </a:solidFill>
                <a:latin typeface="Calibri"/>
              </a:rPr>
              <a:t>Get the process artefact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737360"/>
            <a:ext cx="310895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05A5F"/>
                </a:solidFill>
                <a:latin typeface="Calibri"/>
              </a:rPr>
              <a:t>Immediate Claude call → severity, immediate actions, comms actions, escalation path. Rendered as a GOV.UK task list.</a:t>
            </a:r>
          </a:p>
        </p:txBody>
      </p:sp>
      <p:sp>
        <p:nvSpPr>
          <p:cNvPr id="9" name="Oval 8"/>
          <p:cNvSpPr/>
          <p:nvPr/>
        </p:nvSpPr>
        <p:spPr>
          <a:xfrm>
            <a:off x="8046720" y="1371600"/>
            <a:ext cx="502920" cy="502920"/>
          </a:xfrm>
          <a:prstGeom prst="ellipse">
            <a:avLst/>
          </a:prstGeom>
          <a:solidFill>
            <a:srgbClr val="1D70B8"/>
          </a:solidFill>
          <a:ln>
            <a:solidFill>
              <a:srgbClr val="1D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1371600"/>
            <a:ext cx="3108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0C0C"/>
                </a:solidFill>
                <a:latin typeface="Calibri"/>
              </a:rPr>
              <a:t>Find the runbook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737360"/>
            <a:ext cx="310895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05A5F"/>
                </a:solidFill>
                <a:latin typeface="Calibri"/>
              </a:rPr>
              <a:t>Cached corpus search → retrieved (green), drafted (yellow) or refused (red). Every branch cites its source or explains itself.</a:t>
            </a:r>
          </a:p>
        </p:txBody>
      </p:sp>
      <p:sp>
        <p:nvSpPr>
          <p:cNvPr id="12" name="Oval 11"/>
          <p:cNvSpPr/>
          <p:nvPr/>
        </p:nvSpPr>
        <p:spPr>
          <a:xfrm>
            <a:off x="365760" y="3108960"/>
            <a:ext cx="502920" cy="502920"/>
          </a:xfrm>
          <a:prstGeom prst="ellipse">
            <a:avLst/>
          </a:prstGeom>
          <a:solidFill>
            <a:srgbClr val="505A5F"/>
          </a:solidFill>
          <a:ln>
            <a:solidFill>
              <a:srgbClr val="505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108960"/>
            <a:ext cx="3108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0C0C"/>
                </a:solidFill>
                <a:latin typeface="Calibri"/>
              </a:rPr>
              <a:t>Fix the incident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474720"/>
            <a:ext cx="310895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05A5F"/>
                </a:solidFill>
                <a:latin typeface="Calibri"/>
              </a:rPr>
              <a:t>The tool does not act. It gives the on-caller structure. The human keeps the keys, the terminal and the judgment call.</a:t>
            </a:r>
          </a:p>
        </p:txBody>
      </p:sp>
      <p:sp>
        <p:nvSpPr>
          <p:cNvPr id="15" name="Oval 14"/>
          <p:cNvSpPr/>
          <p:nvPr/>
        </p:nvSpPr>
        <p:spPr>
          <a:xfrm>
            <a:off x="4206240" y="3108960"/>
            <a:ext cx="502920" cy="502920"/>
          </a:xfrm>
          <a:prstGeom prst="ellipse">
            <a:avLst/>
          </a:prstGeom>
          <a:solidFill>
            <a:srgbClr val="1D70B8"/>
          </a:solidFill>
          <a:ln>
            <a:solidFill>
              <a:srgbClr val="1D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108960"/>
            <a:ext cx="3108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0C0C"/>
                </a:solidFill>
                <a:latin typeface="Calibri"/>
              </a:rPr>
              <a:t>Mark resolved + fill the short 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3474720"/>
            <a:ext cx="310895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05A5F"/>
                </a:solidFill>
                <a:latin typeface="Calibri"/>
              </a:rPr>
              <a:t>Leads, timeline notes, resolution notes. That's it. Claude does the boring header + timeline in the DfE template shape.</a:t>
            </a:r>
          </a:p>
        </p:txBody>
      </p:sp>
      <p:sp>
        <p:nvSpPr>
          <p:cNvPr id="18" name="Oval 17"/>
          <p:cNvSpPr/>
          <p:nvPr/>
        </p:nvSpPr>
        <p:spPr>
          <a:xfrm>
            <a:off x="8046720" y="3108960"/>
            <a:ext cx="502920" cy="502920"/>
          </a:xfrm>
          <a:prstGeom prst="ellipse">
            <a:avLst/>
          </a:prstGeom>
          <a:solidFill>
            <a:srgbClr val="1D70B8"/>
          </a:solidFill>
          <a:ln>
            <a:solidFill>
              <a:srgbClr val="1D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3108960"/>
            <a:ext cx="3108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0C0C"/>
                </a:solidFill>
                <a:latin typeface="Calibri"/>
              </a:rPr>
              <a:t>Retro from a real starting 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3474720"/>
            <a:ext cx="310895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05A5F"/>
                </a:solidFill>
                <a:latin typeface="Calibri"/>
              </a:rPr>
              <a:t>The reflective questions (root cause, what went well, prevention) stay blank on purpose — those are the meeting's job, not AI's.</a:t>
            </a:r>
          </a:p>
        </p:txBody>
      </p:sp>
      <p:sp>
        <p:nvSpPr>
          <p:cNvPr id="21" name="Oval 20"/>
          <p:cNvSpPr/>
          <p:nvPr/>
        </p:nvSpPr>
        <p:spPr>
          <a:xfrm>
            <a:off x="365760" y="4846320"/>
            <a:ext cx="502920" cy="502920"/>
          </a:xfrm>
          <a:prstGeom prst="ellipse">
            <a:avLst/>
          </a:prstGeom>
          <a:solidFill>
            <a:srgbClr val="00703C"/>
          </a:solidFill>
          <a:ln>
            <a:solidFill>
              <a:srgbClr val="007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84632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0C0C"/>
                </a:solidFill>
                <a:latin typeface="Calibri"/>
              </a:rPr>
              <a:t>Every step also lands in the Teams incident thread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212080"/>
            <a:ext cx="5120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05A5F"/>
                </a:solidFill>
                <a:latin typeface="Calibri"/>
              </a:rPr>
              <a:t>Adaptive Cards posted automatically — no copy-paste. When corp policy blocks Power Automate, falls back cleanly to skip.</a:t>
            </a:r>
          </a:p>
        </p:txBody>
      </p:sp>
      <p:sp>
        <p:nvSpPr>
          <p:cNvPr id="24" name="Oval 23"/>
          <p:cNvSpPr/>
          <p:nvPr/>
        </p:nvSpPr>
        <p:spPr>
          <a:xfrm>
            <a:off x="6217920" y="4846320"/>
            <a:ext cx="502920" cy="502920"/>
          </a:xfrm>
          <a:prstGeom prst="ellipse">
            <a:avLst/>
          </a:prstGeom>
          <a:solidFill>
            <a:srgbClr val="00703C"/>
          </a:solidFill>
          <a:ln>
            <a:solidFill>
              <a:srgbClr val="007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484632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0C0C"/>
                </a:solidFill>
                <a:latin typeface="Calibri"/>
              </a:rPr>
              <a:t>Every call is measured and evaluated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5212080"/>
            <a:ext cx="4937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05A5F"/>
                </a:solidFill>
                <a:latin typeface="Calibri"/>
              </a:rPr>
              <a:t>Token + cache-hit-rate telemetry per artefact. spec/evals harness runs 10 scenarios against real Claude to score behaviour.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309360"/>
            <a:ext cx="11247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1">
                <a:solidFill>
                  <a:srgbClr val="1D70B8"/>
                </a:solidFill>
                <a:latin typeface="Calibri"/>
              </a:rPr>
              <a:t>Guiding principle: the tool helps.  It does not decide, and it does not run commands.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05A5F"/>
                </a:solidFill>
                <a:latin typeface="Calibri"/>
              </a:rPr>
              <a:t>Incident Response Tool  ·  DfE  ·  W12 hackathon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05A5F"/>
                </a:solidFill>
                <a:latin typeface="Calibri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11247120" cy="640080"/>
          </a:xfrm>
          <a:prstGeom prst="roundRect">
            <a:avLst/>
          </a:prstGeom>
          <a:solidFill>
            <a:srgbClr val="1D70B8"/>
          </a:solidFill>
          <a:ln>
            <a:solidFill>
              <a:srgbClr val="1D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See it in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05A5F"/>
                </a:solidFill>
                <a:latin typeface="Calibri"/>
              </a:rPr>
              <a:t>Paste live screenshots into the boxes below before presenting.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5394960" cy="2331720"/>
          </a:xfrm>
          <a:prstGeom prst="rect">
            <a:avLst/>
          </a:prstGeom>
          <a:solidFill>
            <a:srgbClr val="F3F2F1"/>
          </a:solidFill>
          <a:ln w="19050">
            <a:solidFill>
              <a:srgbClr val="505A5F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i="1">
                <a:solidFill>
                  <a:srgbClr val="505A5F"/>
                </a:solidFill>
                <a:latin typeface="Calibri"/>
              </a:rPr>
              <a:t>[  paste screenshot here 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7764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B0C0C"/>
                </a:solidFill>
                <a:latin typeface="Calibri"/>
              </a:rPr>
              <a:t>Incident intake form (GOV.UK styling, redaction hint)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554480"/>
            <a:ext cx="5394960" cy="2331720"/>
          </a:xfrm>
          <a:prstGeom prst="rect">
            <a:avLst/>
          </a:prstGeom>
          <a:solidFill>
            <a:srgbClr val="F3F2F1"/>
          </a:solidFill>
          <a:ln w="19050">
            <a:solidFill>
              <a:srgbClr val="505A5F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i="1">
                <a:solidFill>
                  <a:srgbClr val="505A5F"/>
                </a:solidFill>
                <a:latin typeface="Calibri"/>
              </a:rPr>
              <a:t>[  paste screenshot here 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97764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B0C0C"/>
                </a:solidFill>
                <a:latin typeface="Calibri"/>
              </a:rPr>
              <a:t>Show page — process artefact (severity + task list)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434840"/>
            <a:ext cx="5394960" cy="2331720"/>
          </a:xfrm>
          <a:prstGeom prst="rect">
            <a:avLst/>
          </a:prstGeom>
          <a:solidFill>
            <a:srgbClr val="F3F2F1"/>
          </a:solidFill>
          <a:ln w="19050">
            <a:solidFill>
              <a:srgbClr val="505A5F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i="1">
                <a:solidFill>
                  <a:srgbClr val="505A5F"/>
                </a:solidFill>
                <a:latin typeface="Calibri"/>
              </a:rPr>
              <a:t>[  paste screenshot here 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85800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B0C0C"/>
                </a:solidFill>
                <a:latin typeface="Calibri"/>
              </a:rPr>
              <a:t>Runbook artefact — retrieved with citation, or drafted from scratch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4434840"/>
            <a:ext cx="5394960" cy="2331720"/>
          </a:xfrm>
          <a:prstGeom prst="rect">
            <a:avLst/>
          </a:prstGeom>
          <a:solidFill>
            <a:srgbClr val="F3F2F1"/>
          </a:solidFill>
          <a:ln w="19050">
            <a:solidFill>
              <a:srgbClr val="505A5F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i="1">
                <a:solidFill>
                  <a:srgbClr val="505A5F"/>
                </a:solidFill>
                <a:latin typeface="Calibri"/>
              </a:rPr>
              <a:t>[  paste screenshot here 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685800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B0C0C"/>
                </a:solidFill>
                <a:latin typeface="Calibri"/>
              </a:rPr>
              <a:t>Post-incident review (or Teams Adaptive Card in webhook.site)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05A5F"/>
                </a:solidFill>
                <a:latin typeface="Calibri"/>
              </a:rPr>
              <a:t>Incident Response Tool  ·  DfE  ·  W12 hackathon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05A5F"/>
                </a:solidFill>
                <a:latin typeface="Calibri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11247120" cy="640080"/>
          </a:xfrm>
          <a:prstGeom prst="roundRect">
            <a:avLst/>
          </a:prstGeom>
          <a:solidFill>
            <a:srgbClr val="1D70B8"/>
          </a:solidFill>
          <a:ln>
            <a:solidFill>
              <a:srgbClr val="1D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What shipped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B0C0C"/>
                </a:solidFill>
                <a:latin typeface="Calibri"/>
              </a:rPr>
              <a:t>Sprint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594360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0B0C0C"/>
                </a:solidFill>
                <a:latin typeface="Calibri"/>
              </a:rPr>
              <a:t>• Step 1 — Incident intake form (GDS formbuilder)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B0C0C"/>
                </a:solidFill>
                <a:latin typeface="Calibri"/>
              </a:rPr>
              <a:t>• Step 2 — Process artefact (severity + actions)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B0C0C"/>
                </a:solidFill>
                <a:latin typeface="Calibri"/>
              </a:rPr>
              <a:t>• Step 3 — Runbook artefact (retrieved/drafted/refused)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B0C0C"/>
                </a:solidFill>
                <a:latin typeface="Calibri"/>
              </a:rPr>
              <a:t>• Step 4 — Post-incident review (fill-in-the-blanks template)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B0C0C"/>
                </a:solidFill>
                <a:latin typeface="Calibri"/>
              </a:rPr>
              <a:t>• Step 5 — Teams integration (Adaptive Cards)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B0C0C"/>
                </a:solidFill>
                <a:latin typeface="Calibri"/>
              </a:rPr>
              <a:t>• Step 6 — Incidents dashboard + filters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B0C0C"/>
                </a:solidFill>
                <a:latin typeface="Calibri"/>
              </a:rPr>
              <a:t>• Step 7 — Guardrails, cost panel, eval harness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B0C0C"/>
                </a:solidFill>
                <a:latin typeface="Calibri"/>
              </a:rPr>
              <a:t>• Stretch S3 — ISO 42001 compliance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13716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B0C0C"/>
                </a:solidFill>
                <a:latin typeface="Calibri"/>
              </a:rPr>
              <a:t>By the numbers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920240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1D70B8"/>
                </a:solidFill>
                <a:latin typeface="Calibri"/>
              </a:rPr>
              <a:t>10/10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69748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05A5F"/>
                </a:solidFill>
                <a:latin typeface="Calibri"/>
              </a:rPr>
              <a:t>eval scenarios passed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1920240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00703C"/>
                </a:solidFill>
                <a:latin typeface="Calibri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269748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05A5F"/>
                </a:solidFill>
                <a:latin typeface="Calibri"/>
              </a:rPr>
              <a:t>hallucinated runbook_ids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200400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1D70B8"/>
                </a:solidFill>
                <a:latin typeface="Calibri"/>
              </a:rPr>
              <a:t>~95%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97764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05A5F"/>
                </a:solidFill>
                <a:latin typeface="Calibri"/>
              </a:rPr>
              <a:t>cache-hit rate on runbooks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3200400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1D70B8"/>
                </a:solidFill>
                <a:latin typeface="Calibri"/>
              </a:rPr>
              <a:t>~$0.06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397764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05A5F"/>
                </a:solidFill>
                <a:latin typeface="Calibri"/>
              </a:rPr>
              <a:t>cost per full incident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4480560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505A5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25780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05A5F"/>
                </a:solidFill>
                <a:latin typeface="Calibri"/>
              </a:rPr>
              <a:t>artefacts per incident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4480560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D4351C"/>
                </a:solidFill>
                <a:latin typeface="Calibri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525780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05A5F"/>
                </a:solidFill>
                <a:latin typeface="Calibri"/>
              </a:rPr>
              <a:t>vector DBs deployed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05A5F"/>
                </a:solidFill>
                <a:latin typeface="Calibri"/>
              </a:rPr>
              <a:t>Incident Response Tool  ·  DfE  ·  W12 hackathon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05A5F"/>
                </a:solidFill>
                <a:latin typeface="Calibri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11247120" cy="640080"/>
          </a:xfrm>
          <a:prstGeom prst="roundRect">
            <a:avLst/>
          </a:prstGeom>
          <a:solidFill>
            <a:srgbClr val="1D70B8"/>
          </a:solidFill>
          <a:ln>
            <a:solidFill>
              <a:srgbClr val="1D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What we'd do next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280160"/>
            <a:ext cx="5577840" cy="50292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D7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5577840" cy="640080"/>
          </a:xfrm>
          <a:prstGeom prst="rect">
            <a:avLst/>
          </a:prstGeom>
          <a:solidFill>
            <a:srgbClr val="1D7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5212080" cy="4023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0B0C0C"/>
                </a:solidFill>
                <a:latin typeface="Calibri"/>
              </a:rPr>
              <a:t>• Live Teams demo via an M365 Developer Program tenant (DfE Power Automate is admin-blocked).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B0C0C"/>
                </a:solidFill>
                <a:latin typeface="Calibri"/>
              </a:rPr>
              <a:t>• MCP server — expose the same three tools to Claude Desktop so the copilot lives where on-callers already are.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B0C0C"/>
                </a:solidFill>
                <a:latin typeface="Calibri"/>
              </a:rPr>
              <a:t>• More integrations mirroring the Teams path for teams who aren't on Teams (e.g. Slack).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B0C0C"/>
                </a:solidFill>
                <a:latin typeface="Calibri"/>
              </a:rPr>
              <a:t>• Integrate with monitoring tools (e.g. Rollbar, Sentry, Splunk) so incidents can be opened automatically from an alert.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B0C0C"/>
                </a:solidFill>
                <a:latin typeface="Calibri"/>
              </a:rPr>
              <a:t>• Streaming responses — SSE so artefacts render token-by-token during the demo.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B0C0C"/>
                </a:solidFill>
                <a:latin typeface="Calibri"/>
              </a:rPr>
              <a:t>• Human-editable artefacts — right now Claude drafts and you re-run; ideally you can tweak inline.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280160"/>
            <a:ext cx="5577840" cy="50292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07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63640" y="1280160"/>
            <a:ext cx="5577840" cy="640080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41732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Trust and scale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148840"/>
            <a:ext cx="5212080" cy="4023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0B0C0C"/>
                </a:solidFill>
                <a:latin typeface="Calibri"/>
              </a:rPr>
              <a:t>• Grow the eval corpus (spec/evals) beyond 10 scenarios; add an adversarial prompt bucket.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B0C0C"/>
                </a:solidFill>
                <a:latin typeface="Calibri"/>
              </a:rPr>
              <a:t>• Continuous eval on production inputs — drift detection for prompts + Claude behaviour.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B0C0C"/>
                </a:solidFill>
                <a:latin typeface="Calibri"/>
              </a:rPr>
              <a:t>• Aggregate cost / cache-hit dashboard (per-service, per-day) — schema is already there.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B0C0C"/>
                </a:solidFill>
                <a:latin typeface="Calibri"/>
              </a:rPr>
              <a:t>• Migrate corpus to RAG once it grows past ~200 000 tokens (currently ~5 000, plenty of headroom).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B0C0C"/>
                </a:solidFill>
                <a:latin typeface="Calibri"/>
              </a:rPr>
              <a:t>• Formal impact assessment + standalone AI-usage policy to close the remaining ISO 42001 gaps.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B0C0C"/>
                </a:solidFill>
                <a:latin typeface="Calibri"/>
              </a:rPr>
              <a:t>• Bias testing on outputs — the corpus is uniform in voice; needs diverse-authorship sampling.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05A5F"/>
                </a:solidFill>
                <a:latin typeface="Calibri"/>
              </a:rPr>
              <a:t>Incident Response Tool  ·  DfE  ·  W12 hackathon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05A5F"/>
                </a:solidFill>
                <a:latin typeface="Calibri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