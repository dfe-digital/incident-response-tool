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1D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W12 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828800"/>
            <a:ext cx="7589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0B0C0C"/>
                </a:solidFill>
                <a:latin typeface="Calibri"/>
              </a:rPr>
              <a:t>Incident Response 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3108960"/>
            <a:ext cx="7589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505A5F"/>
                </a:solidFill>
                <a:latin typeface="Calibri"/>
              </a:rPr>
              <a:t>An AI-assisted incident lifecycle for DfE digital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45720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1">
                <a:solidFill>
                  <a:srgbClr val="1D70B8"/>
                </a:solidFill>
                <a:latin typeface="Calibri"/>
              </a:rPr>
              <a:t>Turning panic into a shape.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585216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05A5F"/>
                </a:solidFill>
                <a:latin typeface="Calibri"/>
              </a:rPr>
              <a:t>David Feetenby  ·  Serena Abbott  ·  and one Claude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When incident management is thin, friction takes 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0C0C"/>
                </a:solidFill>
                <a:latin typeface="Calibri"/>
              </a:rPr>
              <a:t>The pattern we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0C0C"/>
                </a:solidFill>
                <a:latin typeface="Calibri"/>
              </a:rPr>
              <a:t>• On-call rotates every week; institutional memory does not.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0C0C"/>
                </a:solidFill>
                <a:latin typeface="Calibri"/>
              </a:rPr>
              <a:t>• "Where's the runbook for this?" — 30 minutes of Slack archaeology before anyone starts fixing anything.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0C0C"/>
                </a:solidFill>
                <a:latin typeface="Calibri"/>
              </a:rPr>
              <a:t>• Severity gets guessed, comms lag, escalation depends on who happens to be online.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0C0C"/>
                </a:solidFill>
                <a:latin typeface="Calibri"/>
              </a:rPr>
              <a:t>• The retro gets skipped when the fire's out — so the same incident repeats six months later, with a new on-caller.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0C0C"/>
                </a:solidFill>
                <a:latin typeface="Calibri"/>
              </a:rPr>
              <a:t>• Every incident report gets built from scratch in a different place. None of them get read.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2801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D4351C"/>
                </a:solidFill>
                <a:latin typeface="Calibri"/>
              </a:rPr>
              <a:t>The effect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8288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D4351C"/>
                </a:solidFill>
                <a:latin typeface="Calibri"/>
              </a:rPr>
              <a:t>Panic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4231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05A5F"/>
                </a:solidFill>
                <a:latin typeface="Calibri"/>
              </a:rPr>
              <a:t>Worse decisions under time pressure with no shared shape to lean 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1089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D4351C"/>
                </a:solidFill>
                <a:latin typeface="Calibri"/>
              </a:rPr>
              <a:t>Friction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70332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05A5F"/>
                </a:solidFill>
                <a:latin typeface="Calibri"/>
              </a:rPr>
              <a:t>Comms tax and copy-paste tax on every single incident.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3891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D4351C"/>
                </a:solidFill>
                <a:latin typeface="Calibri"/>
              </a:rPr>
              <a:t>Repeat incidents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9834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05A5F"/>
                </a:solidFill>
                <a:latin typeface="Calibri"/>
              </a:rPr>
              <a:t>Same problem, six months later, different person, no lesson learned.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760720"/>
            <a:ext cx="10972800" cy="640080"/>
          </a:xfrm>
          <a:prstGeom prst="roundRect">
            <a:avLst/>
          </a:prstGeom>
          <a:solidFill>
            <a:srgbClr val="0B0C0C"/>
          </a:solidFill>
          <a:ln>
            <a:solidFill>
              <a:srgbClr val="0B0C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This is a coordination problem — one AI can genuinely help with, without replacing the humans doing the fixing.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05A5F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on-caller's journey through the tool</a:t>
            </a:r>
          </a:p>
        </p:txBody>
      </p:sp>
      <p:sp>
        <p:nvSpPr>
          <p:cNvPr id="3" name="Oval 2"/>
          <p:cNvSpPr/>
          <p:nvPr/>
        </p:nvSpPr>
        <p:spPr>
          <a:xfrm>
            <a:off x="365760" y="1371600"/>
            <a:ext cx="502920" cy="502920"/>
          </a:xfrm>
          <a:prstGeom prst="ellipse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Report the incident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3108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GOV.UK-styled form: title, service, free-text description. PromptSanitizer strips secrets before anything leaves the app.</a:t>
            </a:r>
          </a:p>
        </p:txBody>
      </p:sp>
      <p:sp>
        <p:nvSpPr>
          <p:cNvPr id="6" name="Oval 5"/>
          <p:cNvSpPr/>
          <p:nvPr/>
        </p:nvSpPr>
        <p:spPr>
          <a:xfrm>
            <a:off x="4206240" y="1371600"/>
            <a:ext cx="502920" cy="502920"/>
          </a:xfrm>
          <a:prstGeom prst="ellipse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371600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Get the process artefact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737360"/>
            <a:ext cx="3108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Immediate Claude call → severity, immediate actions, comms actions, escalation path. Rendered as a GOV.UK task list.</a:t>
            </a:r>
          </a:p>
        </p:txBody>
      </p:sp>
      <p:sp>
        <p:nvSpPr>
          <p:cNvPr id="9" name="Oval 8"/>
          <p:cNvSpPr/>
          <p:nvPr/>
        </p:nvSpPr>
        <p:spPr>
          <a:xfrm>
            <a:off x="8046720" y="1371600"/>
            <a:ext cx="502920" cy="502920"/>
          </a:xfrm>
          <a:prstGeom prst="ellipse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371600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Find the runbook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737360"/>
            <a:ext cx="3108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Cached corpus search → retrieved (green), drafted (yellow) or refused (red). Every branch cites its source or explains itself.</a:t>
            </a:r>
          </a:p>
        </p:txBody>
      </p:sp>
      <p:sp>
        <p:nvSpPr>
          <p:cNvPr id="12" name="Oval 11"/>
          <p:cNvSpPr/>
          <p:nvPr/>
        </p:nvSpPr>
        <p:spPr>
          <a:xfrm>
            <a:off x="365760" y="3108960"/>
            <a:ext cx="502920" cy="502920"/>
          </a:xfrm>
          <a:prstGeom prst="ellipse">
            <a:avLst/>
          </a:prstGeom>
          <a:solidFill>
            <a:srgbClr val="505A5F"/>
          </a:solidFill>
          <a:ln>
            <a:solidFill>
              <a:srgbClr val="50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08960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Fix the incident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474720"/>
            <a:ext cx="3108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The tool does not act. It gives the on-caller structure. The human keeps the keys, the terminal and the judgment call.</a:t>
            </a:r>
          </a:p>
        </p:txBody>
      </p:sp>
      <p:sp>
        <p:nvSpPr>
          <p:cNvPr id="15" name="Oval 14"/>
          <p:cNvSpPr/>
          <p:nvPr/>
        </p:nvSpPr>
        <p:spPr>
          <a:xfrm>
            <a:off x="4206240" y="3108960"/>
            <a:ext cx="502920" cy="502920"/>
          </a:xfrm>
          <a:prstGeom prst="ellipse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08960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Mark resolved + fill the short 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474720"/>
            <a:ext cx="3108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Leads, timeline notes, resolution notes. That's it. Claude does the boring header + timeline in the DfE template shape.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0" y="3108960"/>
            <a:ext cx="502920" cy="502920"/>
          </a:xfrm>
          <a:prstGeom prst="ellipse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108960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Retro from a real starting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474720"/>
            <a:ext cx="3108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The reflective questions (root cause, what went well, prevention) stay blank on purpose — those are the meeting's job, not AI's.</a:t>
            </a:r>
          </a:p>
        </p:txBody>
      </p:sp>
      <p:sp>
        <p:nvSpPr>
          <p:cNvPr id="21" name="Oval 20"/>
          <p:cNvSpPr/>
          <p:nvPr/>
        </p:nvSpPr>
        <p:spPr>
          <a:xfrm>
            <a:off x="365760" y="4846320"/>
            <a:ext cx="502920" cy="502920"/>
          </a:xfrm>
          <a:prstGeom prst="ellipse">
            <a:avLst/>
          </a:prstGeom>
          <a:solidFill>
            <a:srgbClr val="00703C"/>
          </a:solidFill>
          <a:ln>
            <a:solidFill>
              <a:srgbClr val="007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8463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Every step also lands in the Teams incident thread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21208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Adaptive Cards posted automatically — no copy-paste. When corp policy blocks Power Automate, falls back cleanly to skip.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4846320"/>
            <a:ext cx="502920" cy="502920"/>
          </a:xfrm>
          <a:prstGeom prst="ellipse">
            <a:avLst/>
          </a:prstGeom>
          <a:solidFill>
            <a:srgbClr val="00703C"/>
          </a:solidFill>
          <a:ln>
            <a:solidFill>
              <a:srgbClr val="007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8463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Every call is measured and evaluated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21208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Token + cache-hit-rate telemetry per artefact. spec/evals harness runs 10 scenarios against real Claude to score behaviour.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1">
                <a:solidFill>
                  <a:srgbClr val="1D70B8"/>
                </a:solidFill>
                <a:latin typeface="Calibri"/>
              </a:rPr>
              <a:t>Guiding principle: the tool helps.  It does not decide, and it does not run commands.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05A5F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See it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05A5F"/>
                </a:solidFill>
                <a:latin typeface="Calibri"/>
              </a:rPr>
              <a:t>Paste live screenshots into the boxes below before presenting.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5394960" cy="2331720"/>
          </a:xfrm>
          <a:prstGeom prst="rect">
            <a:avLst/>
          </a:prstGeom>
          <a:solidFill>
            <a:srgbClr val="F3F2F1"/>
          </a:solidFill>
          <a:ln w="19050">
            <a:solidFill>
              <a:srgbClr val="505A5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i="1">
                <a:solidFill>
                  <a:srgbClr val="505A5F"/>
                </a:solidFill>
                <a:latin typeface="Calibri"/>
              </a:rPr>
              <a:t>[  paste screenshot here 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77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B0C0C"/>
                </a:solidFill>
                <a:latin typeface="Calibri"/>
              </a:rPr>
              <a:t>Incident intake form (GOV.UK styling, redaction hint)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394960" cy="2331720"/>
          </a:xfrm>
          <a:prstGeom prst="rect">
            <a:avLst/>
          </a:prstGeom>
          <a:solidFill>
            <a:srgbClr val="F3F2F1"/>
          </a:solidFill>
          <a:ln w="19050">
            <a:solidFill>
              <a:srgbClr val="505A5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i="1">
                <a:solidFill>
                  <a:srgbClr val="505A5F"/>
                </a:solidFill>
                <a:latin typeface="Calibri"/>
              </a:rPr>
              <a:t>[  paste screenshot here 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77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B0C0C"/>
                </a:solidFill>
                <a:latin typeface="Calibri"/>
              </a:rPr>
              <a:t>Show page — process artefact (severity + task list)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34840"/>
            <a:ext cx="5394960" cy="2331720"/>
          </a:xfrm>
          <a:prstGeom prst="rect">
            <a:avLst/>
          </a:prstGeom>
          <a:solidFill>
            <a:srgbClr val="F3F2F1"/>
          </a:solidFill>
          <a:ln w="19050">
            <a:solidFill>
              <a:srgbClr val="505A5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i="1">
                <a:solidFill>
                  <a:srgbClr val="505A5F"/>
                </a:solidFill>
                <a:latin typeface="Calibri"/>
              </a:rPr>
              <a:t>[  paste screenshot here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8580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B0C0C"/>
                </a:solidFill>
                <a:latin typeface="Calibri"/>
              </a:rPr>
              <a:t>Runbook artefact — retrieved with citation, or drafted from scratch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4434840"/>
            <a:ext cx="5394960" cy="2331720"/>
          </a:xfrm>
          <a:prstGeom prst="rect">
            <a:avLst/>
          </a:prstGeom>
          <a:solidFill>
            <a:srgbClr val="F3F2F1"/>
          </a:solidFill>
          <a:ln w="19050">
            <a:solidFill>
              <a:srgbClr val="505A5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i="1">
                <a:solidFill>
                  <a:srgbClr val="505A5F"/>
                </a:solidFill>
                <a:latin typeface="Calibri"/>
              </a:rPr>
              <a:t>[  paste screenshot here 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68580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B0C0C"/>
                </a:solidFill>
                <a:latin typeface="Calibri"/>
              </a:rPr>
              <a:t>Post-incident review (or Teams Adaptive Card in webhook.site)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05A5F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we'd do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280160"/>
            <a:ext cx="5577840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5577840" cy="640080"/>
          </a:xfrm>
          <a:prstGeom prst="rect">
            <a:avLst/>
          </a:prstGeom>
          <a:solidFill>
            <a:srgbClr val="1D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5212080" cy="4023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0C0C"/>
                </a:solidFill>
                <a:latin typeface="Calibri"/>
              </a:rPr>
              <a:t>• Live Teams demo via an M365 Developer Program tenant (DfE Power Automate is admin-blocked).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0C0C"/>
                </a:solidFill>
                <a:latin typeface="Calibri"/>
              </a:rPr>
              <a:t>• Threaded Teams replies via Graph API — currently each artefact is a fresh message tagged with the incident ID.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0C0C"/>
                </a:solidFill>
                <a:latin typeface="Calibri"/>
              </a:rPr>
              <a:t>• MCP server — expose the same three tools to Claude Desktop so the copilot lives where on-callers already are.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0C0C"/>
                </a:solidFill>
                <a:latin typeface="Calibri"/>
              </a:rPr>
              <a:t>• Slack integration mirroring the Teams path for teams who aren't on Teams.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0C0C"/>
                </a:solidFill>
                <a:latin typeface="Calibri"/>
              </a:rPr>
              <a:t>• Streaming responses — SSE so artefacts render token-by-token during the demo.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0C0C"/>
                </a:solidFill>
                <a:latin typeface="Calibri"/>
              </a:rPr>
              <a:t>• Human-editable artefacts — right now Claude drafts and you re-run; ideally you can tweak inline.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80160"/>
            <a:ext cx="5577840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7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280160"/>
            <a:ext cx="5577840" cy="64008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173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Trust and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148840"/>
            <a:ext cx="5212080" cy="4023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0C0C"/>
                </a:solidFill>
                <a:latin typeface="Calibri"/>
              </a:rPr>
              <a:t>• Grow the eval corpus (spec/evals) beyond 10 scenarios; add an adversarial / prompt-injection bucket.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0C0C"/>
                </a:solidFill>
                <a:latin typeface="Calibri"/>
              </a:rPr>
              <a:t>• Continuous eval on production inputs — drift detection for prompts + Claude behaviour.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0C0C"/>
                </a:solidFill>
                <a:latin typeface="Calibri"/>
              </a:rPr>
              <a:t>• Aggregate cost / cache-hit dashboard (per-service, per-day) — schema is already there.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0C0C"/>
                </a:solidFill>
                <a:latin typeface="Calibri"/>
              </a:rPr>
              <a:t>• Migrate corpus to RAG once it grows past ~200 000 tokens (currently ~5 000, plenty of headroom).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0C0C"/>
                </a:solidFill>
                <a:latin typeface="Calibri"/>
              </a:rPr>
              <a:t>• Formal impact assessment + standalone AI-usage policy to close the remaining ISO 42001 gaps.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0C0C"/>
                </a:solidFill>
                <a:latin typeface="Calibri"/>
              </a:rPr>
              <a:t>• Bias testing on outputs — the corpus is uniform in voice; needs diverse-authorship sampling.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0C0C"/>
                </a:solidFill>
                <a:latin typeface="Calibri"/>
              </a:rPr>
              <a:t>• Background job for Teams posts + Claude calls so the UI never blocks on network I/O.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05A5F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shipped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0C0C"/>
                </a:solidFill>
                <a:latin typeface="Calibri"/>
              </a:rPr>
              <a:t>Sprint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94360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1 — Incident intake form (GDS formbuilder)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2 — Process artefact (severity + actions)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3 — Runbook artefact (retrieved/drafted/refused)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4 — Post-incident review (fill-in-the-blanks template)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5 — Teams integration (Adaptive Cards)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6 — Incidents dashboard + filters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7 — Guardrails, cost panel, eval harness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Stretch S3 — ISO 42001 compliance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0C0C"/>
                </a:solidFill>
                <a:latin typeface="Calibri"/>
              </a:rPr>
              <a:t>By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9202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D70B8"/>
                </a:solidFill>
                <a:latin typeface="Calibri"/>
              </a:rPr>
              <a:t>10/10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697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05A5F"/>
                </a:solidFill>
                <a:latin typeface="Calibri"/>
              </a:rPr>
              <a:t>eval scenarios passed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19202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00703C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2697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05A5F"/>
                </a:solidFill>
                <a:latin typeface="Calibri"/>
              </a:rPr>
              <a:t>hallucinated runbook_ids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D70B8"/>
                </a:solidFill>
                <a:latin typeface="Calibri"/>
              </a:rPr>
              <a:t>~95%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9776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05A5F"/>
                </a:solidFill>
                <a:latin typeface="Calibri"/>
              </a:rPr>
              <a:t>cache-hit rate on runbooks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2004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D70B8"/>
                </a:solidFill>
                <a:latin typeface="Calibri"/>
              </a:rPr>
              <a:t>~$0.06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39776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05A5F"/>
                </a:solidFill>
                <a:latin typeface="Calibri"/>
              </a:rPr>
              <a:t>cost per full incident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48056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505A5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25780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05A5F"/>
                </a:solidFill>
                <a:latin typeface="Calibri"/>
              </a:rPr>
              <a:t>artefacts per incident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48056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D4351C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525780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05A5F"/>
                </a:solidFill>
                <a:latin typeface="Calibri"/>
              </a:rPr>
              <a:t>vector DBs deployed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852160"/>
            <a:ext cx="11338560" cy="640080"/>
          </a:xfrm>
          <a:prstGeom prst="roundRect">
            <a:avLst/>
          </a:prstGeom>
          <a:solidFill>
            <a:srgbClr val="F3F2F1"/>
          </a:solidFill>
          <a:ln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0B0C0C"/>
                </a:solidFill>
                <a:latin typeface="Calibri"/>
              </a:rPr>
              <a:t>Next: live Teams via M365 dev tenant  ·  larger eval set  ·  aggregate cost dashboard  ·  MCP / Slack bolt-ons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05A5F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