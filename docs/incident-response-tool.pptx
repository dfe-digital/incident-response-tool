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1D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W12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828800"/>
            <a:ext cx="7589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0B0C0C"/>
                </a:solidFill>
                <a:latin typeface="Calibri"/>
              </a:rPr>
              <a:t>Incident Response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3108960"/>
            <a:ext cx="7589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505A5F"/>
                </a:solidFill>
                <a:latin typeface="Calibri"/>
              </a:rPr>
              <a:t>An AI-assisted incident lifecycle for DfE digital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45720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0B8"/>
                </a:solidFill>
                <a:latin typeface="Calibri"/>
              </a:rPr>
              <a:t>Three artefacts.  One incident thread.  No vector DB.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585216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05A5F"/>
                </a:solidFill>
                <a:latin typeface="Calibri"/>
              </a:rPr>
              <a:t>David Feetenby  ·  Serena Abbott  ·  and one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problem on-callers actually have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0B0C0C"/>
                </a:solidFill>
                <a:latin typeface="Calibri"/>
              </a:rPr>
              <a:t>• On-callers reconstruct incident context from scratch every time — no shared shape for what to capture.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C0C"/>
                </a:solidFill>
                <a:latin typeface="Calibri"/>
              </a:rPr>
              <a:t>• Runbook discovery is slow when someone else wrote the runbook, and half the runbooks aren't written down anyway.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C0C"/>
                </a:solidFill>
                <a:latin typeface="Calibri"/>
              </a:rPr>
              <a:t>• Post-incident reviews get rushed or skipped — the DfE template is good but empty templates don't fill themselves in.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C0C"/>
                </a:solidFill>
                <a:latin typeface="Calibri"/>
              </a:rPr>
              <a:t>• Facts (severity, timeline, decisions) get separated from the meeting where they're needed.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0B0C0C"/>
                </a:solidFill>
                <a:latin typeface="Calibri"/>
              </a:rPr>
              <a:t>• Every artefact ends up copy-pasted into Teams by hand, which is where the real work actually happens.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5212080"/>
            <a:ext cx="10972800" cy="822960"/>
          </a:xfrm>
          <a:prstGeom prst="roundRect">
            <a:avLst/>
          </a:prstGeom>
          <a:solidFill>
            <a:srgbClr val="F3F2F1"/>
          </a:solidFill>
          <a:ln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0B0C0C"/>
                </a:solidFill>
                <a:latin typeface="Calibri"/>
              </a:rPr>
              <a:t>The AI value-add isn't 'answer questions from a corpus'.  It's 'reduce toil around a process the humans already run'.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05A5F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Three artefacts, one incident thread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554480"/>
            <a:ext cx="2011680" cy="914400"/>
          </a:xfrm>
          <a:prstGeom prst="roundRect">
            <a:avLst/>
          </a:prstGeom>
          <a:solidFill>
            <a:srgbClr val="505A5F"/>
          </a:solidFill>
          <a:ln>
            <a:solidFill>
              <a:srgbClr val="50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Incident intake
(GOV.UK form)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554480"/>
            <a:ext cx="2743200" cy="91440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Rails 6.1  +  Claude Opus 4.7
(prompt-cached corpus)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0" y="1234440"/>
            <a:ext cx="2926080" cy="594360"/>
          </a:xfrm>
          <a:prstGeom prst="roundRect">
            <a:avLst/>
          </a:prstGeom>
          <a:solidFill>
            <a:srgbClr val="00703C"/>
          </a:solidFill>
          <a:ln>
            <a:solidFill>
              <a:srgbClr val="007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🔧  Process artefact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920240"/>
            <a:ext cx="2926080" cy="594360"/>
          </a:xfrm>
          <a:prstGeom prst="roundRect">
            <a:avLst/>
          </a:prstGeom>
          <a:solidFill>
            <a:srgbClr val="00703C"/>
          </a:solidFill>
          <a:ln>
            <a:solidFill>
              <a:srgbClr val="007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📖  Runbook artefact (retrieved / drafted / refused)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2606040"/>
            <a:ext cx="2926080" cy="594360"/>
          </a:xfrm>
          <a:prstGeom prst="roundRect">
            <a:avLst/>
          </a:prstGeom>
          <a:solidFill>
            <a:srgbClr val="00703C"/>
          </a:solidFill>
          <a:ln>
            <a:solidFill>
              <a:srgbClr val="007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✅  Post-incident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554480"/>
            <a:ext cx="2651760" cy="914400"/>
          </a:xfrm>
          <a:prstGeom prst="roundRect">
            <a:avLst/>
          </a:prstGeom>
          <a:solidFill>
            <a:srgbClr val="505A5F"/>
          </a:solidFill>
          <a:ln>
            <a:solidFill>
              <a:srgbClr val="50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Teams channel
(Adaptive Cards)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2011680"/>
            <a:ext cx="365760" cy="0"/>
          </a:xfrm>
          <a:prstGeom prst="line">
            <a:avLst/>
          </a:prstGeom>
          <a:ln w="25400">
            <a:solidFill>
              <a:srgbClr val="505A5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0" y="2011680"/>
            <a:ext cx="365760" cy="0"/>
          </a:xfrm>
          <a:prstGeom prst="line">
            <a:avLst/>
          </a:prstGeom>
          <a:ln w="25400">
            <a:solidFill>
              <a:srgbClr val="505A5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778240" y="2011680"/>
            <a:ext cx="274320" cy="0"/>
          </a:xfrm>
          <a:prstGeom prst="line">
            <a:avLst/>
          </a:prstGeom>
          <a:ln w="25400">
            <a:solidFill>
              <a:srgbClr val="505A5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32004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05A5F"/>
                </a:solidFill>
                <a:latin typeface="Calibri"/>
              </a:rPr>
              <a:t>Each event fires an Adaptive Card into the incident's Teams thread.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B0C0C"/>
                </a:solidFill>
                <a:latin typeface="Calibri"/>
              </a:rPr>
              <a:t>Guarantees per Claude call: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109728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0B0C0C"/>
                </a:solidFill>
                <a:latin typeface="Calibri"/>
              </a:rPr>
              <a:t>• Structured JSON output — no free-form prose to parse.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C0C"/>
                </a:solidFill>
                <a:latin typeface="Calibri"/>
              </a:rPr>
              <a:t>• Corpus is synthetic + in git — no PII exposure.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C0C"/>
                </a:solidFill>
                <a:latin typeface="Calibri"/>
              </a:rPr>
              <a:t>• PromptSanitizer redacts API keys and emails before Claude sees them.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C0C"/>
                </a:solidFill>
                <a:latin typeface="Calibri"/>
              </a:rPr>
              <a:t>• Refuses non-operational reports rather than inventing.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0B0C0C"/>
                </a:solidFill>
                <a:latin typeface="Calibri"/>
              </a:rPr>
              <a:t>• Every call records token usage + cache-hit rate for cost visibility.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05A5F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architectural bet: Cache-Augmented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5486400" cy="3840480"/>
          </a:xfrm>
          <a:prstGeom prst="roundRect">
            <a:avLst/>
          </a:prstGeom>
          <a:solidFill>
            <a:srgbClr val="F3F2F1"/>
          </a:solidFill>
          <a:ln>
            <a:solidFill>
              <a:srgbClr val="50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05A5F"/>
                </a:solidFill>
                <a:latin typeface="Calibri"/>
              </a:rPr>
              <a:t>RAG (what most people build)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0292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505A5F"/>
                </a:solidFill>
                <a:latin typeface="Calibri"/>
              </a:rPr>
              <a:t>• Vector DB stores embedded chunks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505A5F"/>
                </a:solidFill>
                <a:latin typeface="Calibri"/>
              </a:rPr>
              <a:t>• Embedding model turns query → vector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505A5F"/>
                </a:solidFill>
                <a:latin typeface="Calibri"/>
              </a:rPr>
              <a:t>• Similarity search narrows the corpus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505A5F"/>
                </a:solidFill>
                <a:latin typeface="Calibri"/>
              </a:rPr>
              <a:t>• Retrieved chunks stuffed into context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505A5F"/>
                </a:solidFill>
                <a:latin typeface="Calibri"/>
              </a:rPr>
              <a:t>• Chunk boundaries + threshold tuning matter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486400" cy="38404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002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CAG (what we built)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194560"/>
            <a:ext cx="50292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Whole ~5k-token corpus in the system prompt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Anthropic prompt cache → ~10× cheaper reads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Retrieval = LLM attention over the full context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Zero infrastructure: no DB, no embedder, no chunker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Live cache-hit rate visible in the UI (≥95% typical)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11338560" cy="822960"/>
          </a:xfrm>
          <a:prstGeom prst="roundRect">
            <a:avLst/>
          </a:prstGeom>
          <a:solidFill>
            <a:srgbClr val="0B0C0C"/>
          </a:solidFill>
          <a:ln>
            <a:solidFill>
              <a:srgbClr val="0B0C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"Attack surface is one third party: Anthropic. RAG would add two more — the embedding vendor and the vector DB."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05A5F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Safety, cost, evidence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463040"/>
            <a:ext cx="3703320" cy="4206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7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3703320" cy="64008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33375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PromptSanitizer redacts API keys, Bearer tokens and emails before every Claude call.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Length caps: title ≤200, description ≤10 000 chars.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Refuse-over-invent — non-operational reports get an honest 'no runbook covers this' banner.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Blameless voice enforced in the review prompt.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463040"/>
            <a:ext cx="3703320" cy="4206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51960" y="1463040"/>
            <a:ext cx="3703320" cy="640080"/>
          </a:xfrm>
          <a:prstGeom prst="rect">
            <a:avLst/>
          </a:prstGeom>
          <a:solidFill>
            <a:srgbClr val="1D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60020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Cost visibility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286000"/>
            <a:ext cx="33375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Every artefact stores input / cache-creation / cache-read / output tokens.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AnthropicPricing.summary_line renders per-artefact: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   "10 996 tokens · $0.06 · 100% cache hit"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Cache-hit rate is a live proof that CAG is behaving.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703320" cy="42062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435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463040"/>
            <a:ext cx="3703320" cy="640080"/>
          </a:xfrm>
          <a:prstGeom prst="rect">
            <a:avLst/>
          </a:prstGeom>
          <a:solidFill>
            <a:srgbClr val="D435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600200"/>
            <a:ext cx="3429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3375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spec/evals — 10 curated scenarios in three buckets: retrieval, draft, refuse.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bundle exec rake eval:runbook prints a scorecard against real Claude calls.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Full run: 10/10 pass, 0 hallucinations, ~$0.96 total.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Wrapped in a transaction so test data doesn't persist.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05A5F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shipped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B0C0C"/>
                </a:solidFill>
                <a:latin typeface="Calibri"/>
              </a:rPr>
              <a:t>Sprint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9436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1 — Incident intake form (GDS formbuilder)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2 — Process artefact (severity + actions)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3 — Runbook artefact (retrieved/drafted/refused)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4 — Post-incident review (fill-in-the-blanks template)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5 — Teams integration (Adaptive Cards)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6 — Incidents dashboard + filters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7 — Guardrails, cost panel, eval harness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Stretch S3 — ISO 42001 compliance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B0C0C"/>
                </a:solidFill>
                <a:latin typeface="Calibri"/>
              </a:rPr>
              <a:t>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D70B8"/>
                </a:solidFill>
                <a:latin typeface="Calibri"/>
              </a:rPr>
              <a:t>10/10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697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05A5F"/>
                </a:solidFill>
                <a:latin typeface="Calibri"/>
              </a:rPr>
              <a:t>eval scenarios 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1920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0070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69748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05A5F"/>
                </a:solidFill>
                <a:latin typeface="Calibri"/>
              </a:rPr>
              <a:t>hallucinated runbook_ids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D70B8"/>
                </a:solidFill>
                <a:latin typeface="Calibri"/>
              </a:rPr>
              <a:t>~95%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05A5F"/>
                </a:solidFill>
                <a:latin typeface="Calibri"/>
              </a:rPr>
              <a:t>cache-hit rate on runbooks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2004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D70B8"/>
                </a:solidFill>
                <a:latin typeface="Calibri"/>
              </a:rPr>
              <a:t>~$0.06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05A5F"/>
                </a:solidFill>
                <a:latin typeface="Calibri"/>
              </a:rPr>
              <a:t>cost per full incident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48056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505A5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2578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05A5F"/>
                </a:solidFill>
                <a:latin typeface="Calibri"/>
              </a:rPr>
              <a:t>artefacts per incident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48056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D4351C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52578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05A5F"/>
                </a:solidFill>
                <a:latin typeface="Calibri"/>
              </a:rPr>
              <a:t>vector DBs deployed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852160"/>
            <a:ext cx="11338560" cy="640080"/>
          </a:xfrm>
          <a:prstGeom prst="roundRect">
            <a:avLst/>
          </a:prstGeom>
          <a:solidFill>
            <a:srgbClr val="F3F2F1"/>
          </a:solidFill>
          <a:ln>
            <a:solidFill>
              <a:srgbClr val="F3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0B0C0C"/>
                </a:solidFill>
                <a:latin typeface="Calibri"/>
              </a:rPr>
              <a:t>Next: live Teams via M365 dev tenant  ·  larger eval set  ·  aggregate cost dashboard  ·  MCP / Slack bolt-ons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05A5F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